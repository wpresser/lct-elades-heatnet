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f73fe02b5f441e" /><Relationship Type="http://schemas.openxmlformats.org/officeDocument/2006/relationships/extended-properties" Target="/docProps/app.xml" Id="R21cef4ab97fc48e2" /><Relationship Type="http://schemas.openxmlformats.org/officeDocument/2006/relationships/officeDocument" Target="/ppt/presentation.xml" Id="R499fe12d0bd843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f6a9966b044cba"/>
  </p:sldMasterIdLst>
  <p:notesMasterIdLst>
    <p:notesMasterId xmlns:r="http://schemas.openxmlformats.org/officeDocument/2006/relationships" r:id="Rb9c8903bca054c07"/>
  </p:notesMasterIdLst>
  <p:sldIdLst>
    <p:sldId xmlns:r="http://schemas.openxmlformats.org/officeDocument/2006/relationships" id="256" r:id="R33aa9ac2e27f4afb"/>
    <p:sldId xmlns:r="http://schemas.openxmlformats.org/officeDocument/2006/relationships" id="257" r:id="R403bb4dafb444341"/>
    <p:sldId xmlns:r="http://schemas.openxmlformats.org/officeDocument/2006/relationships" id="258" r:id="Rb2d29e5f08e54206"/>
    <p:sldId xmlns:r="http://schemas.openxmlformats.org/officeDocument/2006/relationships" id="259" r:id="Rb23dc9a19e9e4797"/>
    <p:sldId xmlns:r="http://schemas.openxmlformats.org/officeDocument/2006/relationships" id="260" r:id="R140a02d141ef418c"/>
    <p:sldId xmlns:r="http://schemas.openxmlformats.org/officeDocument/2006/relationships" id="261" r:id="R0b8b8720a93e492d"/>
    <p:sldId xmlns:r="http://schemas.openxmlformats.org/officeDocument/2006/relationships" id="262" r:id="R0acbf002028f4101"/>
    <p:sldId xmlns:r="http://schemas.openxmlformats.org/officeDocument/2006/relationships" id="263" r:id="R5b854a69a5374b72"/>
    <p:sldId xmlns:r="http://schemas.openxmlformats.org/officeDocument/2006/relationships" id="264" r:id="Rd9e439bcd2e34cbb"/>
    <p:sldId xmlns:r="http://schemas.openxmlformats.org/officeDocument/2006/relationships" id="265" r:id="R6c26d55d97314009"/>
    <p:sldId xmlns:r="http://schemas.openxmlformats.org/officeDocument/2006/relationships" id="266" r:id="Rc07f8412d42040c1"/>
    <p:sldId xmlns:r="http://schemas.openxmlformats.org/officeDocument/2006/relationships" id="267" r:id="R63378b0ea9fe47ad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4e85aed08b4545" /><Relationship Type="http://schemas.openxmlformats.org/officeDocument/2006/relationships/slideMaster" Target="/ppt/slideMasters/slideMaster1.xml" Id="R1ff6a9966b044cba" /><Relationship Type="http://schemas.openxmlformats.org/officeDocument/2006/relationships/notesMaster" Target="/ppt/notesMasters/notesMaster1.xml" Id="Rb9c8903bca054c07" /><Relationship Type="http://schemas.openxmlformats.org/officeDocument/2006/relationships/presProps" Target="/ppt/presProps.xml" Id="R25a87ad32a16443e" /><Relationship Type="http://schemas.openxmlformats.org/officeDocument/2006/relationships/viewProps" Target="/ppt/viewProps.xml" Id="R149c9d7f3a7d484d" /><Relationship Type="http://schemas.openxmlformats.org/officeDocument/2006/relationships/tableStyles" Target="/ppt/tableStyles.xml" Id="Rda35dd096e2949e6" /><Relationship Type="http://schemas.openxmlformats.org/officeDocument/2006/relationships/slide" Target="/ppt/slides/slide1.xml" Id="R33aa9ac2e27f4afb" /><Relationship Type="http://schemas.openxmlformats.org/officeDocument/2006/relationships/slide" Target="/ppt/slides/slide2.xml" Id="R403bb4dafb444341" /><Relationship Type="http://schemas.openxmlformats.org/officeDocument/2006/relationships/slide" Target="/ppt/slides/slide3.xml" Id="Rb2d29e5f08e54206" /><Relationship Type="http://schemas.openxmlformats.org/officeDocument/2006/relationships/slide" Target="/ppt/slides/slide4.xml" Id="Rb23dc9a19e9e4797" /><Relationship Type="http://schemas.openxmlformats.org/officeDocument/2006/relationships/slide" Target="/ppt/slides/slide5.xml" Id="R140a02d141ef418c" /><Relationship Type="http://schemas.openxmlformats.org/officeDocument/2006/relationships/slide" Target="/ppt/slides/slide6.xml" Id="R0b8b8720a93e492d" /><Relationship Type="http://schemas.openxmlformats.org/officeDocument/2006/relationships/slide" Target="/ppt/slides/slide7.xml" Id="R0acbf002028f4101" /><Relationship Type="http://schemas.openxmlformats.org/officeDocument/2006/relationships/slide" Target="/ppt/slides/slide8.xml" Id="R5b854a69a5374b72" /><Relationship Type="http://schemas.openxmlformats.org/officeDocument/2006/relationships/slide" Target="/ppt/slides/slide9.xml" Id="Rd9e439bcd2e34cbb" /><Relationship Type="http://schemas.openxmlformats.org/officeDocument/2006/relationships/slide" Target="/ppt/slides/slide10.xml" Id="R6c26d55d97314009" /><Relationship Type="http://schemas.openxmlformats.org/officeDocument/2006/relationships/slide" Target="/ppt/slides/slide11.xml" Id="Rc07f8412d42040c1" /><Relationship Type="http://schemas.openxmlformats.org/officeDocument/2006/relationships/slide" Target="/ppt/slides/slide12.xml" Id="R63378b0ea9fe47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d9ab69b41e43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62f060856c49df" /><Relationship Type="http://schemas.openxmlformats.org/officeDocument/2006/relationships/notesMaster" Target="/ppt/notesMasters/notesMaster1.xml" Id="R3d5e4bb2b7524e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f34be631544eab" /><Relationship Type="http://schemas.openxmlformats.org/officeDocument/2006/relationships/notesMaster" Target="/ppt/notesMasters/notesMaster1.xml" Id="Ra18a64090c7b4f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20e629c44e49be" /><Relationship Type="http://schemas.openxmlformats.org/officeDocument/2006/relationships/notesMaster" Target="/ppt/notesMasters/notesMaster1.xml" Id="Ra0ff27ab1f7148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fb5dda64284f6c" /><Relationship Type="http://schemas.openxmlformats.org/officeDocument/2006/relationships/notesMaster" Target="/ppt/notesMasters/notesMaster1.xml" Id="Rb7d004da68ce4f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6f4bd7f702417a" /><Relationship Type="http://schemas.openxmlformats.org/officeDocument/2006/relationships/notesMaster" Target="/ppt/notesMasters/notesMaster1.xml" Id="R2111b9284cc741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159aac6c9a45e9" /><Relationship Type="http://schemas.openxmlformats.org/officeDocument/2006/relationships/notesMaster" Target="/ppt/notesMasters/notesMaster1.xml" Id="R03d244a47be241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671207a27e4b8f" /><Relationship Type="http://schemas.openxmlformats.org/officeDocument/2006/relationships/notesMaster" Target="/ppt/notesMasters/notesMaster1.xml" Id="Rd5a68acf857e47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f5cb6724a74952" /><Relationship Type="http://schemas.openxmlformats.org/officeDocument/2006/relationships/notesMaster" Target="/ppt/notesMasters/notesMaster1.xml" Id="Re23900a703dd4d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4ef0948d7b420e" /><Relationship Type="http://schemas.openxmlformats.org/officeDocument/2006/relationships/notesMaster" Target="/ppt/notesMasters/notesMaster1.xml" Id="R1d26f8bbfa5941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c559db15c14915" /><Relationship Type="http://schemas.openxmlformats.org/officeDocument/2006/relationships/notesMaster" Target="/ppt/notesMasters/notesMaster1.xml" Id="R914b374e88394c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649f0ee53b40f9" /><Relationship Type="http://schemas.openxmlformats.org/officeDocument/2006/relationships/notesMaster" Target="/ppt/notesMasters/notesMaster1.xml" Id="Re4d7bfc6b99742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5fe02acaec495c" /><Relationship Type="http://schemas.openxmlformats.org/officeDocument/2006/relationships/notesMaster" Target="/ppt/notesMasters/notesMaster1.xml" Id="R116ece0a63504a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0ced7de1714d63" /><Relationship Type="http://schemas.openxmlformats.org/officeDocument/2006/relationships/image" Target="/ppt/media/image2.png" Id="R8823f912f1c448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0d87de63854c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a55573608940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d86289c774d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d41d160134a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4a93230092415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f8cf2190cd4cd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d2d18e53b1495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032d0c9ad4d6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7a2a050554ef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5c82622c54f6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4059bda0f44a86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5209ffab9843f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89af9230245e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081614b424ac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57b5a275346d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fad7ce76f4624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8edc096821480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7c7a94ebb84568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255bbe90f14a0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188f93b2a0401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772551602648c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e996bbfef47cb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8823f912f1c4481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8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b174703f20074c67" /><Relationship Type="http://schemas.openxmlformats.org/officeDocument/2006/relationships/theme" Target="/ppt/slideMasters/theme/theme2.xml" Id="Ra87dc689541f4e5e" /><Relationship Type="http://schemas.openxmlformats.org/officeDocument/2006/relationships/slideLayout" Target="/ppt/slideLayouts/slideLayout1.xml" Id="R1971210a1e1a49f4" /><Relationship Type="http://schemas.openxmlformats.org/officeDocument/2006/relationships/slideLayout" Target="/ppt/slideLayouts/slideLayout2.xml" Id="R1e275ca4858e4a1d" /><Relationship Type="http://schemas.openxmlformats.org/officeDocument/2006/relationships/slideLayout" Target="/ppt/slideLayouts/slideLayout3.xml" Id="R17785c8927024ef3" /><Relationship Type="http://schemas.openxmlformats.org/officeDocument/2006/relationships/slideLayout" Target="/ppt/slideLayouts/slideLayout4.xml" Id="R53e515dbd393498f" /><Relationship Type="http://schemas.openxmlformats.org/officeDocument/2006/relationships/slideLayout" Target="/ppt/slideLayouts/slideLayout5.xml" Id="R9901555b092345bf" /><Relationship Type="http://schemas.openxmlformats.org/officeDocument/2006/relationships/slideLayout" Target="/ppt/slideLayouts/slideLayout6.xml" Id="R819d24c525da4979" /><Relationship Type="http://schemas.openxmlformats.org/officeDocument/2006/relationships/slideLayout" Target="/ppt/slideLayouts/slideLayout7.xml" Id="Reff436cca1c64379" /><Relationship Type="http://schemas.openxmlformats.org/officeDocument/2006/relationships/slideLayout" Target="/ppt/slideLayouts/slideLayout8.xml" Id="Rc097797cecb7411e" /><Relationship Type="http://schemas.openxmlformats.org/officeDocument/2006/relationships/slideLayout" Target="/ppt/slideLayouts/slideLayout9.xml" Id="Ra1394f5a09254d1b" /><Relationship Type="http://schemas.openxmlformats.org/officeDocument/2006/relationships/slideLayout" Target="/ppt/slideLayouts/slideLayout10.xml" Id="R0a9e5865a3f14da4" /><Relationship Type="http://schemas.openxmlformats.org/officeDocument/2006/relationships/slideLayout" Target="/ppt/slideLayouts/slideLayout11.xml" Id="R9ba2fee349434e32" /><Relationship Type="http://schemas.openxmlformats.org/officeDocument/2006/relationships/slideLayout" Target="/ppt/slideLayouts/slideLayout12.xml" Id="Ra3dd9aeabb924fe0" /><Relationship Type="http://schemas.openxmlformats.org/officeDocument/2006/relationships/slideLayout" Target="/ppt/slideLayouts/slideLayout13.xml" Id="Rd96ac7b0ac48423a" /><Relationship Type="http://schemas.openxmlformats.org/officeDocument/2006/relationships/slideLayout" Target="/ppt/slideLayouts/slideLayout14.xml" Id="R78cfaccb6ba04f0c" /><Relationship Type="http://schemas.openxmlformats.org/officeDocument/2006/relationships/slideLayout" Target="/ppt/slideLayouts/slideLayout15.xml" Id="Rc184b02a8286400e" /><Relationship Type="http://schemas.openxmlformats.org/officeDocument/2006/relationships/slideLayout" Target="/ppt/slideLayouts/slideLayout16.xml" Id="Rf8eb0f3c3e704921" /><Relationship Type="http://schemas.openxmlformats.org/officeDocument/2006/relationships/slideLayout" Target="/ppt/slideLayouts/slideLayout17.xml" Id="Read21508ec5c4964" /><Relationship Type="http://schemas.openxmlformats.org/officeDocument/2006/relationships/slideLayout" Target="/ppt/slideLayouts/slideLayout18.xml" Id="Rd0e25b016f1d42b0" /><Relationship Type="http://schemas.openxmlformats.org/officeDocument/2006/relationships/slideLayout" Target="/ppt/slideLayouts/slideLayout19.xml" Id="Rc516b972c91241fc" /><Relationship Type="http://schemas.openxmlformats.org/officeDocument/2006/relationships/slideLayout" Target="/ppt/slideLayouts/slideLayout20.xml" Id="Rac63d0b5033f4b27" /><Relationship Type="http://schemas.openxmlformats.org/officeDocument/2006/relationships/slideLayout" Target="/ppt/slideLayouts/slideLayout21.xml" Id="R3423f1f263d441f5" /><Relationship Type="http://schemas.openxmlformats.org/officeDocument/2006/relationships/slideLayout" Target="/ppt/slideLayouts/slideLayout22.xml" Id="Rcbc9c0526a474f4e" /><Relationship Type="http://schemas.openxmlformats.org/officeDocument/2006/relationships/slideLayout" Target="/ppt/slideLayouts/slideLayout23.xml" Id="Rb1c2b0664e6c4f10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174703f20074c6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71210a1e1a49f4"/>
    <p:sldLayoutId xmlns:r="http://schemas.openxmlformats.org/officeDocument/2006/relationships" id="2147483650" r:id="R1e275ca4858e4a1d"/>
    <p:sldLayoutId xmlns:r="http://schemas.openxmlformats.org/officeDocument/2006/relationships" id="2147483651" r:id="R17785c8927024ef3"/>
    <p:sldLayoutId xmlns:r="http://schemas.openxmlformats.org/officeDocument/2006/relationships" id="2147483652" r:id="R53e515dbd393498f"/>
    <p:sldLayoutId xmlns:r="http://schemas.openxmlformats.org/officeDocument/2006/relationships" id="2147483653" r:id="R9901555b092345bf"/>
    <p:sldLayoutId xmlns:r="http://schemas.openxmlformats.org/officeDocument/2006/relationships" id="2147483654" r:id="R819d24c525da4979"/>
    <p:sldLayoutId xmlns:r="http://schemas.openxmlformats.org/officeDocument/2006/relationships" id="2147483655" r:id="Reff436cca1c64379"/>
    <p:sldLayoutId xmlns:r="http://schemas.openxmlformats.org/officeDocument/2006/relationships" id="2147483656" r:id="Rc097797cecb7411e"/>
    <p:sldLayoutId xmlns:r="http://schemas.openxmlformats.org/officeDocument/2006/relationships" id="2147483657" r:id="Ra1394f5a09254d1b"/>
    <p:sldLayoutId xmlns:r="http://schemas.openxmlformats.org/officeDocument/2006/relationships" id="2147483658" r:id="R0a9e5865a3f14da4"/>
    <p:sldLayoutId xmlns:r="http://schemas.openxmlformats.org/officeDocument/2006/relationships" id="2147483659" r:id="R9ba2fee349434e32"/>
    <p:sldLayoutId xmlns:r="http://schemas.openxmlformats.org/officeDocument/2006/relationships" id="2147483660" r:id="Ra3dd9aeabb924fe0"/>
    <p:sldLayoutId xmlns:r="http://schemas.openxmlformats.org/officeDocument/2006/relationships" id="2147483661" r:id="Rd96ac7b0ac48423a"/>
    <p:sldLayoutId xmlns:r="http://schemas.openxmlformats.org/officeDocument/2006/relationships" id="2147483662" r:id="R78cfaccb6ba04f0c"/>
    <p:sldLayoutId xmlns:r="http://schemas.openxmlformats.org/officeDocument/2006/relationships" id="2147483663" r:id="Rc184b02a8286400e"/>
    <p:sldLayoutId xmlns:r="http://schemas.openxmlformats.org/officeDocument/2006/relationships" id="2147483664" r:id="Rf8eb0f3c3e704921"/>
    <p:sldLayoutId xmlns:r="http://schemas.openxmlformats.org/officeDocument/2006/relationships" id="2147483665" r:id="Read21508ec5c4964"/>
    <p:sldLayoutId xmlns:r="http://schemas.openxmlformats.org/officeDocument/2006/relationships" id="2147483666" r:id="Rd0e25b016f1d42b0"/>
    <p:sldLayoutId xmlns:r="http://schemas.openxmlformats.org/officeDocument/2006/relationships" id="2147483667" r:id="Rc516b972c91241fc"/>
    <p:sldLayoutId xmlns:r="http://schemas.openxmlformats.org/officeDocument/2006/relationships" id="2147483668" r:id="Rac63d0b5033f4b27"/>
    <p:sldLayoutId xmlns:r="http://schemas.openxmlformats.org/officeDocument/2006/relationships" id="2147483669" r:id="R3423f1f263d441f5"/>
    <p:sldLayoutId xmlns:r="http://schemas.openxmlformats.org/officeDocument/2006/relationships" id="2147483670" r:id="Rcbc9c0526a474f4e"/>
    <p:sldLayoutId xmlns:r="http://schemas.openxmlformats.org/officeDocument/2006/relationships" id="2147483671" r:id="Rb1c2b0664e6c4f10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5c46f21634b32" /><Relationship Type="http://schemas.openxmlformats.org/officeDocument/2006/relationships/image" Target="/ppt/media/image3.png" Id="Rb9b1887d06c54049" /><Relationship Type="http://schemas.openxmlformats.org/officeDocument/2006/relationships/notesSlide" Target="/ppt/notesSlides/notesSlide1.xml" Id="R1d04a1c1dd9044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5e71b1d12a422c" /><Relationship Type="http://schemas.openxmlformats.org/officeDocument/2006/relationships/image" Target="/ppt/media/image4.png" Id="Ra0a0dc471d2e4057" /><Relationship Type="http://schemas.openxmlformats.org/officeDocument/2006/relationships/image" Target="/ppt/media/image5.png" Id="Rd23f6c2884e6476d" /><Relationship Type="http://schemas.openxmlformats.org/officeDocument/2006/relationships/notesSlide" Target="/ppt/notesSlides/notesSlide2.xml" Id="R986a85c2b01942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fcda09691f4699" /><Relationship Type="http://schemas.openxmlformats.org/officeDocument/2006/relationships/image" Target="/ppt/media/image.png" Id="Rce18ecb155194165" /><Relationship Type="http://schemas.openxmlformats.org/officeDocument/2006/relationships/image" Target="/ppt/media/image6.png" Id="Rad34cb3ced0e49d7" /><Relationship Type="http://schemas.openxmlformats.org/officeDocument/2006/relationships/image" Target="/ppt/media/image7.png" Id="Rd67f57fd4f304ecd" /><Relationship Type="http://schemas.openxmlformats.org/officeDocument/2006/relationships/image" Target="/ppt/media/image8.png" Id="R8f45299dd34e4f9f" /><Relationship Type="http://schemas.openxmlformats.org/officeDocument/2006/relationships/notesSlide" Target="/ppt/notesSlides/notesSlide3.xml" Id="R02a52a0c2c224c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82f3e00c31e4551" /><Relationship Type="http://schemas.openxmlformats.org/officeDocument/2006/relationships/image" Target="/ppt/media/image9.png" Id="Rb3dd853109b44511" /><Relationship Type="http://schemas.openxmlformats.org/officeDocument/2006/relationships/notesSlide" Target="/ppt/notesSlides/notesSlide4.xml" Id="R6e4c250b3af940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e1416c6634e419e" /><Relationship Type="http://schemas.openxmlformats.org/officeDocument/2006/relationships/image" Target="/ppt/media/image.png" Id="Rf1f7585ec6fe4786" /><Relationship Type="http://schemas.openxmlformats.org/officeDocument/2006/relationships/notesSlide" Target="/ppt/notesSlides/notesSlide5.xml" Id="Ra6f1c26a2e8641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45e2e65a59b42a3" /><Relationship Type="http://schemas.openxmlformats.org/officeDocument/2006/relationships/image" Target="/ppt/media/image.png" Id="Rf93cd39905884e2c" /><Relationship Type="http://schemas.openxmlformats.org/officeDocument/2006/relationships/notesSlide" Target="/ppt/notesSlides/notesSlide6.xml" Id="Raafe5f36bec341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ddce8905ca645fa" /><Relationship Type="http://schemas.openxmlformats.org/officeDocument/2006/relationships/image" Target="/ppt/media/image.png" Id="Ra84aa22fd3c64748" /><Relationship Type="http://schemas.openxmlformats.org/officeDocument/2006/relationships/image" Target="/ppt/media/image10.png" Id="R7832122e37914393" /><Relationship Type="http://schemas.openxmlformats.org/officeDocument/2006/relationships/notesSlide" Target="/ppt/notesSlides/notesSlide7.xml" Id="R501eb742d0584c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b59561855ef45df" /><Relationship Type="http://schemas.openxmlformats.org/officeDocument/2006/relationships/image" Target="/ppt/media/image9.png" Id="Rf5fb40ad164247a4" /><Relationship Type="http://schemas.openxmlformats.org/officeDocument/2006/relationships/image" Target="/ppt/media/image11.png" Id="R77c76783d1e64827" /><Relationship Type="http://schemas.openxmlformats.org/officeDocument/2006/relationships/image" Target="/ppt/media/image12.png" Id="R27a9f742918e4eca" /><Relationship Type="http://schemas.openxmlformats.org/officeDocument/2006/relationships/image" Target="/ppt/media/image13.png" Id="Rcc23ef51ca9b4171" /><Relationship Type="http://schemas.openxmlformats.org/officeDocument/2006/relationships/notesSlide" Target="/ppt/notesSlides/notesSlide8.xml" Id="R68b04377e25940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147fa42c41fd4a3b" /><Relationship Type="http://schemas.openxmlformats.org/officeDocument/2006/relationships/image" Target="/ppt/media/image4.png" Id="Rddeed6d704694275" /><Relationship Type="http://schemas.openxmlformats.org/officeDocument/2006/relationships/notesSlide" Target="/ppt/notesSlides/notesSlide9.xml" Id="R4b8f65f88f0341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ad70d754a044b9f" /><Relationship Type="http://schemas.openxmlformats.org/officeDocument/2006/relationships/image" Target="/ppt/media/image4.png" Id="R110457d684744333" /><Relationship Type="http://schemas.openxmlformats.org/officeDocument/2006/relationships/notesSlide" Target="/ppt/notesSlides/notesSlide10.xml" Id="R60da64404e9445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3987253c43914bee" /><Relationship Type="http://schemas.openxmlformats.org/officeDocument/2006/relationships/image" Target="/ppt/media/image4.png" Id="Rea30c011966c4e5e" /><Relationship Type="http://schemas.openxmlformats.org/officeDocument/2006/relationships/image" Target="/ppt/media/image14.png" Id="R9a7791d32b6a4555" /><Relationship Type="http://schemas.openxmlformats.org/officeDocument/2006/relationships/image" Target="/ppt/media/image15.png" Id="Rb8027ab5ea9847cf" /><Relationship Type="http://schemas.openxmlformats.org/officeDocument/2006/relationships/notesSlide" Target="/ppt/notesSlides/notesSlide11.xml" Id="R323bd78bd2914f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64284e90e6b43af" /><Relationship Type="http://schemas.openxmlformats.org/officeDocument/2006/relationships/image" Target="/ppt/media/image.png" Id="R11a1a81f69e34117" /><Relationship Type="http://schemas.openxmlformats.org/officeDocument/2006/relationships/notesSlide" Target="/ppt/notesSlides/notesSlide12.xml" Id="R7fab2db1d1fc48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</a:pPr>
            <a:r>
              <a:rPr sz="4800"/>
              <a:t>Elades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</a:pPr>
            <a:r>
              <a:t>Сервис моделирования трасс подключения к тепловым сетям</a:t>
            </a:r>
          </a:p>
          <a:p xmlns:a="http://schemas.openxmlformats.org/drawingml/2006/main">
            <a:pPr indent="268288">
              <a:buNone/>
            </a:pPr>
            <a:r>
              <a:t>ЛЦТ 2026 · задача 2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1887d06c540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57200"/>
            <a:ext cx="2668742" cy="8229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0a0dc471d2e405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d23f6c2884e6476d"/>
          <a:srcRect xmlns:a="http://schemas.openxmlformats.org/drawingml/2006/main" l="11" t="0" r="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Потребители объединяются в общую сеть-дерево с камерами и пересчётом диаметров; трассы обходят ограничения и идут вдоль застройки; все 17 точек подключены; две отдельные проверки по тексту ТЗ — 0 нарушений обязательных правил.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Зиновьев Сергей Николаевич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3 человека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Команда лицеистов, которые случайно узнали о конкурсе и решили попробовать себя в новом формате.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Место учёбы: Экономический лицей им. Г. В. Плеханова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Автотрассировка тепловых сетей</a:t>
            </a: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83BB8741-DC45-431C-B968-FF119BE6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434EC69E-F0EF-4054-9EB4-9CBF2F8D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6EBA3391-77C0-456C-9B24-02877C2F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93574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За один запуск строит варианты новой теплосети: места присоединения, общие ветки, трассы в обход ограничений, расходы, диаметры и стоимость. Результат выдаётся в GeoJSON вместе со списком неподключённых точек.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e18ecb15519416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20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048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@Swooish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+7 967 050 3939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048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5"/>
                </a:solidFill>
              </a:rPr>
              <a:t>Зиновьев Сергей</a:t>
            </a:r>
          </a:p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5"/>
                </a:solidFill>
              </a:rPr>
              <a:t>Николаевич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51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80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Участник команды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@danikkiss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+7 915 696 6833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80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Овсянников Данила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2883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9</a:t>
            </a:fld>
            <a:endParaRPr>
              <a:solidFill>
                <a:schemeClr val="bg1"/>
              </a:solidFill>
            </a:endParaRPr>
          </a:p>
        </p:txBody>
      </p:sp>
      <p:pic>
        <p:nvPicPr>
          <p:cNvPr id="71" name="Рисунок 1"/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ad34cb3ced0e49d7"/>
          <a:srcRect xmlns:a="http://schemas.openxmlformats.org/drawingml/2006/main" l="0" t="4925" r="0" b="49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28204" y="1816054"/>
            <a:ext cx="1722566" cy="1552901"/>
          </a:xfrm>
          <a:prstGeom xmlns:a="http://schemas.openxmlformats.org/drawingml/2006/main" prst="rect">
            <a:avLst/>
          </a:prstGeom>
        </p:spPr>
      </p:pic>
      <p:pic>
        <p:nvPicPr>
          <p:cNvPr id="72" name="Рисунок 2"/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d67f57fd4f304ecd"/>
          <a:srcRect xmlns:a="http://schemas.openxmlformats.org/drawingml/2006/main" l="0" t="5230" r="0" b="52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3274" y="1826554"/>
            <a:ext cx="1722566" cy="1542401"/>
          </a:xfrm>
          <a:prstGeom xmlns:a="http://schemas.openxmlformats.org/drawingml/2006/main" prst="rect">
            <a:avLst/>
          </a:prstGeom>
        </p:spPr>
      </p:pic>
      <p:pic>
        <p:nvPicPr>
          <p:cNvPr id="73" name="Рисунок 3"/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8f45299dd34e4f9f"/>
          <a:srcRect xmlns:a="http://schemas.openxmlformats.org/drawingml/2006/main" l="0" t="4727" r="0" b="47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8591" y="1809238"/>
            <a:ext cx="1722567" cy="1559717"/>
          </a:xfrm>
          <a:prstGeom xmlns:a="http://schemas.openxmlformats.org/drawingml/2006/main" prst="rect">
            <a:avLst/>
          </a:prstGeom>
        </p:spPr>
      </p:pic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КОМАНДА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2865167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Участник команды</a:t>
            </a:r>
          </a:p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@waresar_13</a:t>
            </a:r>
          </a:p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+7 926 780 3792</a:t>
            </a:r>
          </a:p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5166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Клыков Андрей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3dd853109b445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О КОМАНДЕ И ПРОЦЕССЕ</a:t>
            </a: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10241280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Мы познакомились в лицее. Все трое участвуем в жизни лицея, ходим на конкурсы, мероприятия и олимпиады. Нам интересно разбираться в новых моделях искусственного интеллекта и пробовать их в работе.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10241280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Сложнее всего было разобраться в большом ТЗ, проложить трассы с учётом всех ограничений и проверить расчёты. Мы сделали отдельную проверку результата. После обратной связи экспертов: 17 из 17 в основном режиме (доп. разъяснения 29.09, №15), трассы вдоль застройки, набор с дорогами OSM и ускорение на нём.</a:t>
            </a: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10241280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Выбрали эту тему из-за конкуренции и потому, что нам было интересно поработать с городской инфраструктурой, картами и алгоритмами. До этого мы не делали проект в таком формате.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AD41F26C-260F-4CD5-A6BC-46E46D36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7D9987D3-2101-4897-A8B2-74F1707E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1B0E421A-8DCE-4F5B-86C7-1BEDED93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1f7585ec6fe478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11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>Java 11, Spring Boot 2.6.3, PostgreSQL, docker-compose 1.29.2, Swagger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Потоковая загрузка GeoJSON до 3 ГБ (замер 28.09: 3,0 ГБ — 6 мин, пик памяти 626 МБ); расчёты в EPSG:32637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Граф видимости + A*: поворот ≤ 90°, цена ребра — вклад в S; затем выравнивание вдоль осей зданий и дорог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Присоединение к существующей сети через камеру или ответвление от уже построенной новой сети; пересчёт расходов и ДУ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Ограничения таблицы 2, спецпроходы с Кспец; ввод в здание и ±2 м — по доп. разъяснениям 29.09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Проверка: валидатор и аудитор команды, 15 сценариев, набор с дорогами OSM; 49 враждебных входов — замер 28.09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>Заменяет ручной перебор мест врезки и трасс автоматическим расчётом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Сравнение вариантов по стоимости и длине — прозрачное обоснование решения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Реализовано по техприложению ред. 18.09; реконструкция существующей сети в актуальной модели не выполняется (§2.4, разъяснения по вопросам участников, №14)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93cd39905884e2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25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3123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16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520913" y="2331720"/>
            <a:ext cx="2284071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17 из 17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20913" y="3291840"/>
            <a:ext cx="2284071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точек подключены (в сдаче 30.09 по умолчанию — 14): точки 2, 5, 10 — ввод через внешний контур здания, штрафов нет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3457903" y="2331720"/>
            <a:ext cx="2337416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53 → 64 %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3457903" y="3291840"/>
            <a:ext cx="2337416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длины трасс v1 вдоль осей застройки (сдача 30.09 → сейчас); S = 13,20, 1 846 м, 273,6 млн ₽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6456363" y="2331720"/>
            <a:ext cx="2268537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0 ошибок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456363" y="3291840"/>
            <a:ext cx="2268537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в двух отдельных проверках команды, которые пересчитывают всё по тексту ТЗ: основной результат и набор с дорогами OSM; валидатор — ещё 15 сценариев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9407534" y="2331720"/>
            <a:ext cx="2263553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≈ 2 мин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9407534" y="3291840"/>
            <a:ext cx="2263553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весь расчёт на наборе с дорогами OSM: 109–125 с на ноутбуке; до исправления — больше 16 мин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РЕЗУЛЬТАТЫ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3449944" y="1766200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456363" y="1766043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9407534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84aa22fd3c6474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13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600">
                <a:solidFill>
                  <a:schemeClr val="bg1"/>
                </a:solidFill>
              </a:rPr>
              <a:t>СЕТЬ ВАРИАНТА V1</a:t>
            </a:r>
          </a:p>
        </p:txBody>
      </p:sp>
      <p:pic>
        <p:nvPicPr>
          <p:cNvPr id="28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2122e379143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" y="1508760"/>
            <a:ext cx="6359236" cy="4663440"/>
          </a:xfrm>
          <a:prstGeom xmlns:a="http://schemas.openxmlformats.org/drawingml/2006/main" prst="rect">
            <a:avLst/>
          </a:prstGeom>
        </p:spPr>
      </p:pic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E8A487B-508C-44B4-8D45-FBCBB9C6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600200"/>
            <a:ext cx="4572000" cy="2042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Основной режим: 17 из 17 целей, штрафов нет.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4 присоединения к существующей сети, 10 камер разветвления.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1 846 м · 273,6 млн ₽ · S = 13,20.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Точки 2, 5, 10 (в кольцах): ввод через ближайшую точку внешнего контура, а если прямой выход закрыт — через другую (доп. разъяснения 29.09, №15). Трассы вдоль застройки: 64 % длины вдоль осей (в сдаче 30.09 — 53 %); поток в камерах поворачивает не больше чем на 90°.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Новая сеть — розовым, существующая — тёмным; ■ — камера разветвления, ◇ — новая камера присоединения.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5fb40ad164247a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17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Совместная сеть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5212080"/>
            <a:ext cx="2965633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4 присоединения · 17/17 · 1 846 м · 273,6 млн ₽ · S 13,20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Одно присоединение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5212080"/>
            <a:ext cx="3034896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спецпроход ±2 м через существующую сеть · 17/17 · 2 078 м · 289,7 млн ₽ · S 14,35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Набор + дороги OSM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5212080"/>
            <a:ext cx="2945464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другой вход: коридоры вдоль улиц · 17/17 · 2 041 м · 292,9 млн ₽ · S 14,33 (с V1 не сравнивается)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chemeClr val="accent5"/>
                </a:solidFill>
              </a:rPr>
              <a:t>СРАВНЕНИЕ ВАРИАНТОВ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400" b="1">
                <a:solidFill>
                  <a:schemeClr val="accent5"/>
                </a:solidFill>
              </a:rPr>
              <a:t>V1</a:t>
            </a: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400" b="1">
                <a:solidFill>
                  <a:schemeClr val="accent5"/>
                </a:solidFill>
              </a:rPr>
              <a:t>V2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400" b="1">
                <a:solidFill>
                  <a:schemeClr val="accent5"/>
                </a:solidFill>
              </a:rPr>
              <a:t>OSM</a:t>
            </a:r>
          </a:p>
        </p:txBody>
      </p:sp>
      <p:pic>
        <p:nvPicPr>
          <p:cNvPr id="39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76783d1e648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811" y="3017520"/>
            <a:ext cx="2926080" cy="2148840"/>
          </a:xfrm>
          <a:prstGeom xmlns:a="http://schemas.openxmlformats.org/drawingml/2006/main" prst="rect">
            <a:avLst/>
          </a:prstGeom>
        </p:spPr>
      </p:pic>
      <p:pic>
        <p:nvPicPr>
          <p:cNvPr id="40" name="Picture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9f742918e4e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54296" y="3017520"/>
            <a:ext cx="2926080" cy="2148840"/>
          </a:xfrm>
          <a:prstGeom xmlns:a="http://schemas.openxmlformats.org/drawingml/2006/main" prst="rect">
            <a:avLst/>
          </a:prstGeom>
        </p:spPr>
      </p:pic>
      <p:pic>
        <p:nvPicPr>
          <p:cNvPr id="41" name="Picture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3ef51ca9b41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26780" y="3017520"/>
            <a:ext cx="2926080" cy="21488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deed6d70469427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5852160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chemeClr val="tx1"/>
                </a:solidFill>
              </a:rPr>
              <a:t>S = 0,7 · C / 25 млн ₽ + 0,3 · L / 100 м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Техприложение §6; меньше — лучше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v1: 7,66 + 5,54 = 13,20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v2: 8,11 + 6,23 ≈ 14,35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Четыре присоединения выгоднее одного: v2 длиннее на 233 м и дороже на 16,1 млн ₽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Предельная длина (§2.3) соблюдена на всех путях — валидатор: 0 нарушений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Поворот ≤ 90° — в каждой вершине трассы и в каждой камере разветвления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Ограничения набора: ОКС (85), вода (2), ж/д (1) — обход с отступом по таблице 2 (у ОКС 5 м + ½ ширины пары труб)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Спецпроход: v2 пересекает существующую сеть 128 ровно на ±2 м (Кспец 1,05, доп. разъяснения 29.09, №14). Дорога, трамвай, газ, кабель — 15 сценариев и набор с дорогами OSM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Нет маршрута → частичный результат, id в unconnected_oks_ids, штраф и причина; точки с битыми данными тоже не теряются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Реконструкция существующей сети по приложению ред. 18.09 не выполняется; справочно: добавленный расход занимает до 52 % пропускной способности ДУ 400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Границы: 2D (глубина необязательна), эвристика без гарантии оптимума; диагональ остаётся, где «Г» упирается в здание; трактовки раскрыты в выгрузке и интерфейсе</a:t>
            </a: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РАНЖИРОВАНИЕ И ОГРАНИЧЕНИЯ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10457d6847443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25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1. Чтение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GeoJSON потоком в два прохода, EPSG:32637, окна поиска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3. Трасса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A* по графу видимости: поворот ≤ 90°, цена — вклад в S; выравнивание вдоль застройки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5. Результат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Два варианта, ранжирование по S, GeoJSON по §7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2. Препятствия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Отступ + ½ габарита по таблице 2, зоны спецпроходов</a:t>
            </a: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4. Общая сеть</a:t>
            </a: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Присоединение к существующей сети или ответвление от новой в камере, пересчёт ДУ</a:t>
            </a: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3643104B-45C4-4295-ABF0-274C2E88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DAF70FA3-CDB3-43BB-AFC9-38BD55C7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3EE1022F-24DC-420E-9616-4EA160BA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D93409C4-7718-49BE-956C-E739E1B4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AD59C5F6-3F33-4DB5-9A15-4DDA4B75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FA3638BA-3B9A-44D9-AF3F-19A5C36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0ACC4CC2-2C0D-4EB1-B693-A867E679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6B555288-1058-4644-9E8F-9A2099F3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A5E4EEB6-576A-42B5-A4B5-0D247E9B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АЛГОРИТМ</a:t>
            </a:r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a30c011966c4e5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3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791d32b6a45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78252" y="904538"/>
            <a:ext cx="4551334" cy="3557364"/>
          </a:xfrm>
          <a:prstGeom xmlns:a="http://schemas.openxmlformats.org/drawingml/2006/main" prst="rect">
            <a:avLst/>
          </a:prstGeom>
        </p:spPr>
      </p:pic>
      <p:pic>
        <p:nvPicPr>
          <p:cNvPr id="14" name="Рисунок 1"/>
          <p:cNvPicPr>
            <a:picLocks xmlns:a="http://schemas.openxmlformats.org/drawingml/2006/main" noChangeAspect="1"/>
          </p:cNvPicPr>
          <p:nvPr>
            <p:ph type="pic" idx="14"/>
          </p:nvPr>
        </p:nvPicPr>
        <p:blipFill>
          <a:blip xmlns:r="http://schemas.openxmlformats.org/officeDocument/2006/relationships" xmlns:a="http://schemas.openxmlformats.org/drawingml/2006/main" r:embed="Rb8027ab5ea9847cf"/>
          <a:srcRect xmlns:a="http://schemas.openxmlformats.org/drawingml/2006/main" l="117" t="0" r="11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0350" y="1196340"/>
            <a:ext cx="3966210" cy="2971800"/>
          </a:xfr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Загрузка и расчёт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Файл до 3 ГБ потоком (замер 28.09: 3,0 ГБ — 6 мин), очередь заданий и статус, API в Swagger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Карта результата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Варианты, камеры, спецпроходы, предельная длина и блок «Трактовки и отступления»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Развёртывание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docker-compose 1.29.2: приложение и PostgreSQL 16, Java 11</a:t>
            </a: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СЕРВИС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1a1a81f69e3411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Режим с глубиной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Отдельный расчёт с вертикальными правилами пересечений и коэффициентом глубины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Масштаб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Следующий этап: инкрементальный пересчёт препятствий и параллельный перебор вариантов — для тысяч целей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Внедрение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Интеграция с ГИС города; при появлении в данных текущих расходов — проверка пропускной способности существующей сети</a:t>
            </a:r>
          </a:p>
        </p:txBody>
      </p:sp>
      <p:cxnSp>
        <p:nvCxnSpPr>
          <p:cNvPr id="119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РАЗВИТИЕ</a:t>
            </a:r>
          </a:p>
        </p:txBody>
      </p:sp>
      <p:cxnSp>
        <p:nvCxnSpPr>
          <p:cNvPr id="156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Команда Elades</dc:creator>
  <lastModifiedBy>Команда Elades</lastModifiedBy>
  <dc:title>Elades — ЛЦТ 2026, задача 2</dc:title>
  <dcterms:created xsi:type="dcterms:W3CDTF">2026-09-29T13:24:17.8320000Z</dcterms:created>
  <dcterms:modified xsi:type="dcterms:W3CDTF">2026-09-29T13:24:17.8320000Z</dcterms:modified>
</coreProperties>
</file>