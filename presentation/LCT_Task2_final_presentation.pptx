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71" r:id="rId17"/>
    <p:sldId id="372" r:id="rId14"/>
    <p:sldId id="374" r:id="rId18"/>
    <p:sldId id="262" r:id="rId21"/>
    <p:sldId id="267" r:id="rId26"/>
    <p:sldId id="269" r:id="rId27"/>
    <p:sldId id="268" r:id="rId25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4" Type="http://schemas.openxmlformats.org/officeDocument/2006/relationships/slide" Target="slides/slide13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4.png"/><Relationship Id="rId3" Type="http://schemas.openxmlformats.org/officeDocument/2006/relationships/image" Target="../media/image32.png"/><Relationship Id="rId4" Type="http://schemas.openxmlformats.org/officeDocument/2006/relationships/image" Target="../media/image10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 dirty="0"/>
              <a:t>[Название команды]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rPr lang="ru-RU" dirty="0"/>
              <a:t>Сервис моделирования трасс подключения к тепловым сетям</a:t>
            </a:r>
          </a:p>
          <a:p>
            <a:pPr indent="268288"/>
            <a:r>
              <a:rPr lang="ru-RU" dirty="0"/>
              <a:t>ЛЦТ 2026 · задача 2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668742" cy="822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2" name="Рисунок 1" descr="viewer_wide.pn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11" r="11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Трасса выбирается сразу по итоговому показателю S, а не по длине; потребители объединяются в общую сеть с пересчётом диаметров; результат проверен внешним аудитором — 0 ошибок, трактовки раскрыты в выгрузке.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[ФИО, специальность]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3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[как образовалась команда]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[место учёбы / работы участников]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[заполнить]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lang="ru-RU" sz="2400" dirty="0">
                <a:solidFill>
                  <a:schemeClr val="accent5"/>
                </a:solidFill>
                <a:latin typeface="+mn-lt"/>
              </a:rPr>
              <a:t>Автотрассировка тепловых сетей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За один запуск строит новую теплосеть до всех точек подключения: места присоединения, общие ветки, трассы в обход ограничений, расходы, диаметры, стоимость — и варианты в GeoJSON.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499820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517048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Капитан: проверка и развёртывание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[ник в мессенджере]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[номер телефона]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[место учёбы / работы]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517048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[Имя Фамилия]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730351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747580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Презентация и демонстрация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[ник в мессенджере]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[номер телефона]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[место учёбы / работы]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747580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[Имя Фамилия]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2692883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928204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233274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38591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lang="ru-RU" dirty="0">
                <a:latin typeface="+mn-lt"/>
              </a:rPr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2865167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Алгоритм и сервис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[ник в мессенджере]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[номер телефона]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[место учёбы / работы]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2865166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[Имя Фамилия]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 lang="ru-RU" dirty="0">
                <a:latin typeface="+mn-lt"/>
              </a:rPr>
              <a:t>О КОМАНДЕ И ПРОЦЕССЕ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10241280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[Заполнить: как собрались, прошлые хакатоны и проекты, интересные факты о команде]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10241280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Противоречия в документах (граница спецучастка и отступ, «ближайшая граница» у невыпуклых зданий, реконструкция в ТЗ и её исключение в приложении ред. 18.09) — каждую трактовку вынесли в один параметр и раскрываем в выгрузке; вопрос организатору подготовили. Невыпуклые здания и плотная застройка — научили сервис перестраивать участки.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10241280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Задача на стыке геометрии, оптимизации и городской инфраструктуры: вместо ручного перебора мест врезки и трасс — расчёт и сравнение вариантов за минуты.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Java 11, Spring Boot 2.6.3, PostgreSQL, docker-compose 1.29.2, Swagger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Потоковая загрузка и чтение GeoJSON: файл 3,0 ГБ — 6 мин, 626 МБ памяти; расчёты в EPSG:32637</a:t>
            </a:r>
          </a:p>
          <a:p>
            <a:r>
              <a:rPr lang="ru-RU" sz="1400" dirty="0">
                <a:solidFill>
                  <a:schemeClr val="tx1"/>
                </a:solidFill>
              </a:rPr>
              <a:t>Граф видимости + A*: поворот ≤ 90° в вершинах и камерах, цена ребра — вклад в показатель S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Присоединение к существующей сети через камеру или ответвление от уже построенной новой сети; пересчёт расходов и ДУ</a:t>
            </a:r>
          </a:p>
          <a:p>
            <a:r>
              <a:rPr lang="ru-RU" sz="1400" dirty="0">
                <a:solidFill>
                  <a:schemeClr val="tx1"/>
                </a:solidFill>
              </a:rPr>
              <a:t>Все ограничения таблицы 2, спецпроходы с Kспец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Проверка: внешний аудитор и отдельный валидатор; 49 входов, включая враждебные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Заменяет ручной перебор мест врезки и трасс автоматическим расчётом</a:t>
            </a:r>
          </a:p>
          <a:p>
            <a:r>
              <a:rPr lang="ru-RU" sz="1400" dirty="0">
                <a:solidFill>
                  <a:schemeClr val="tx1"/>
                </a:solidFill>
              </a:rPr>
              <a:t>Сравнение вариантов по стоимости и длине — прозрачное обоснование решения</a:t>
            </a:r>
          </a:p>
          <a:p>
            <a:r>
              <a:rPr lang="ru-RU" sz="1400" dirty="0">
                <a:solidFill>
                  <a:schemeClr val="tx1"/>
                </a:solidFill>
              </a:rPr>
              <a:t>Реализовано по техприложению ред. 18.09; реконструкция существующей сети в актуальной модели не выполняется (§2.4, разъяснение №14)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lang="ru-RU" sz="3600" dirty="0">
                <a:solidFill>
                  <a:schemeClr val="bg1"/>
                </a:solidFill>
              </a:rPr>
              <a:t>СЕТЬ ВАРИАНТА V1</a:t>
            </a:r>
          </a:p>
        </p:txBody>
      </p:sp>
      <p:pic>
        <p:nvPicPr>
          <p:cNvPr id="22" name="Picture 21" descr="net_v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08760"/>
            <a:ext cx="6359236" cy="46634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086600" y="1600200"/>
            <a:ext cx="45720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310F53"/>
                </a:solidFill>
                <a:latin typeface="Montserrat"/>
              </a:rPr>
              <a:t>14 из 17 целей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10F53"/>
                </a:solidFill>
                <a:latin typeface="Montserrat"/>
              </a:rPr>
              <a:t>4 присоединения к существующей сети, 10 камер разветвления; поворот потока в камере ≤ 90°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310F53"/>
                </a:solidFill>
                <a:latin typeface="Montserrat"/>
              </a:rPr>
              <a:t>1 554 м · 568,9 млн ₽ · S = 20,59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10F53"/>
                </a:solidFill>
                <a:latin typeface="Montserrat"/>
              </a:rPr>
              <a:t>Ветки объединяются в камерах, диаметр растёт к месту присоединения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10F53"/>
                </a:solidFill>
                <a:latin typeface="Montserrat"/>
              </a:rPr>
              <a:t>§2.2: у точек 2, 5 и 10 прямой выход из самой близкой точки контура закрыт этим же зданием (невыпуклый контур, у 5 — закрытый двор); финальный участок — от ближайшего участка контура со свободным выходом. Раскрыто в выгрузке; строгое прочтение — 14/17, включается одной настройкой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10F53"/>
                </a:solidFill>
                <a:latin typeface="Montserrat"/>
              </a:rPr>
              <a:t>Розовое — новая сеть (толщина — ДУ), тёмное — существующая; ◇ — камера присоединения, ■ — разветвления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1720"/>
            <a:ext cx="2284071" cy="822960"/>
          </a:xfrm>
        </p:spPr>
        <p:txBody>
          <a:bodyPr/>
          <a:lstStyle/>
          <a:p>
            <a:r>
              <a:rPr lang="ru-RU" dirty="0" b="1" sz="3000">
                <a:solidFill>
                  <a:srgbClr val="F92571"/>
                </a:solidFill>
              </a:rPr>
              <a:t>14 из 17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291840"/>
            <a:ext cx="2284071" cy="2651760"/>
          </a:xfrm>
        </p:spPr>
        <p:txBody>
          <a:bodyPr/>
          <a:lstStyle/>
          <a:p>
            <a:pPr marL="0" indent="0">
              <a:buNone/>
            </a:pPr>
            <a:r>
              <a:rPr lang="ru-RU" dirty="0" sz="1500">
                <a:solidFill>
                  <a:schemeClr val="tx1"/>
                </a:solidFill>
              </a:rPr>
              <a:t>точек подключения конкурсного набора подключены (v1); трактовка §2.2 для точек 2, 5, 10 — на слайде 7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31720"/>
            <a:ext cx="2337416" cy="822960"/>
          </a:xfrm>
        </p:spPr>
        <p:txBody>
          <a:bodyPr/>
          <a:lstStyle/>
          <a:p>
            <a:r>
              <a:rPr lang="ru-RU" dirty="0" b="1" sz="3000">
                <a:solidFill>
                  <a:srgbClr val="F92571"/>
                </a:solidFill>
              </a:rPr>
              <a:t>S = 20,59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291840"/>
            <a:ext cx="2337416" cy="2651760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tx1"/>
                </a:solidFill>
              </a:rPr>
              <a:t>итоговый показатель лучшего варианта: 1 554 м сети, 568,9 млн ₽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31720"/>
            <a:ext cx="2268537" cy="822960"/>
          </a:xfrm>
        </p:spPr>
        <p:txBody>
          <a:bodyPr/>
          <a:lstStyle/>
          <a:p>
            <a:r>
              <a:rPr lang="ru-RU" b="1" sz="3000">
                <a:solidFill>
                  <a:srgbClr val="F92571"/>
                </a:solidFill>
              </a:rPr>
              <a:t>0 ошибок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291840"/>
            <a:ext cx="2268537" cy="2651760"/>
          </a:xfrm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tx1"/>
                </a:solidFill>
              </a:rPr>
              <a:t>внешний аудитор правил и отдельный валидатор; 49 входов, включая враждебные, — все расчёты завершены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1720"/>
            <a:ext cx="2263553" cy="822960"/>
          </a:xfrm>
        </p:spPr>
        <p:txBody>
          <a:bodyPr/>
          <a:lstStyle/>
          <a:p>
            <a:r>
              <a:rPr lang="ru-RU" b="1" sz="3000">
                <a:solidFill>
                  <a:srgbClr val="F92571"/>
                </a:solidFill>
              </a:rPr>
              <a:t>3 ГБ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291840"/>
            <a:ext cx="2263553" cy="2651760"/>
          </a:xfrm>
        </p:spPr>
        <p:txBody>
          <a:bodyPr/>
          <a:lstStyle/>
          <a:p>
            <a:pPr marL="0" indent="0">
              <a:buNone/>
            </a:pPr>
            <a:r>
              <a:rPr lang="ru-RU" dirty="0" sz="1500">
                <a:solidFill>
                  <a:schemeClr val="tx1"/>
                </a:solidFill>
              </a:rPr>
              <a:t>файл 3,0 ГБ — 6 мин, 626 МБ памяти; 50 клиентов одновременно — 550 из 550 запросов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 dirty="0"/>
              <a:t>РЕЗУЛЬТАТЫ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r>
              <a:rPr lang="ru-RU" sz="1800" dirty="0">
                <a:solidFill>
                  <a:srgbClr val="F92571"/>
                </a:solidFill>
              </a:rPr>
              <a:t>Совместная сеть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5212080"/>
            <a:ext cx="2965633" cy="914400"/>
          </a:xfrm>
        </p:spPr>
        <p:txBody>
          <a:bodyPr/>
          <a:lstStyle/>
          <a:p>
            <a:pPr marL="0" indent="0">
              <a:buNone/>
            </a:pPr>
            <a:r>
              <a:rPr lang="ru-RU" dirty="0" sz="1100">
                <a:solidFill>
                  <a:schemeClr val="tx1"/>
                </a:solidFill>
              </a:rPr>
              <a:t>4 присоединения · 14/17 · 1 554 м · 568,9 млн ₽ · S 20,59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r>
              <a:rPr lang="ru-RU" sz="1800" dirty="0">
                <a:solidFill>
                  <a:srgbClr val="F92571"/>
                </a:solidFill>
              </a:rPr>
              <a:t>Одно присоединение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5212080"/>
            <a:ext cx="3034896" cy="914400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спецпроход через существующую сеть · 14/17 · 1 806 м · 595,4 млн ₽ · S 22,09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r>
              <a:rPr lang="ru-RU" sz="1800">
                <a:solidFill>
                  <a:srgbClr val="F92571"/>
                </a:solidFill>
              </a:rPr>
              <a:t>База: каждая отдельно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5212080"/>
            <a:ext cx="2945464" cy="914400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не выдаётся по умолчанию, для сравнения · alternative · 17/17 · 1 825 м · 271,5 млн ₽ · S 13,08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 lang="ru-RU" dirty="0">
                <a:solidFill>
                  <a:schemeClr val="accent5"/>
                </a:solidFill>
              </a:rPr>
              <a:t>СРАВНЕНИЕ ВАРИАНТОВ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r>
              <a:rPr lang="ru-RU" sz="4400" b="1" dirty="0">
                <a:solidFill>
                  <a:schemeClr val="accent5"/>
                </a:solidFill>
              </a:rPr>
              <a:t>V1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r>
              <a:rPr lang="ru-RU" sz="4400" b="1" dirty="0">
                <a:solidFill>
                  <a:schemeClr val="accent5"/>
                </a:solidFill>
              </a:rPr>
              <a:t>V2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r>
              <a:rPr lang="ru-RU" sz="4400" b="1" dirty="0">
                <a:solidFill>
                  <a:schemeClr val="accent5"/>
                </a:solidFill>
              </a:rPr>
              <a:t>V3</a:t>
            </a:r>
          </a:p>
        </p:txBody>
      </p:sp>
      <p:pic>
        <p:nvPicPr>
          <p:cNvPr id="22" name="Picture 21" descr="card_v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1" y="3017520"/>
            <a:ext cx="2926080" cy="2148840"/>
          </a:xfrm>
          <a:prstGeom prst="rect">
            <a:avLst/>
          </a:prstGeom>
        </p:spPr>
      </p:pic>
      <p:pic>
        <p:nvPicPr>
          <p:cNvPr id="23" name="Picture 22" descr="card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296" y="3017520"/>
            <a:ext cx="2926080" cy="2148840"/>
          </a:xfrm>
          <a:prstGeom prst="rect">
            <a:avLst/>
          </a:prstGeom>
        </p:spPr>
      </p:pic>
      <p:pic>
        <p:nvPicPr>
          <p:cNvPr id="24" name="Picture 23" descr="card_v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6780" y="3017520"/>
            <a:ext cx="2926080" cy="2148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585216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ru-RU" sz="1400" b="1">
                <a:solidFill>
                  <a:schemeClr val="tx1"/>
                </a:solidFill>
              </a:rPr>
              <a:t>S = 0,7 · C / 25 млн ₽ + 0,3 · L / 100 м</a:t>
            </a:r>
          </a:p>
          <a:p>
            <a:pPr algn="l"/>
            <a:r>
              <a:rPr lang="ru-RU" sz="1400" b="0">
                <a:solidFill>
                  <a:schemeClr val="tx1"/>
                </a:solidFill>
              </a:rPr>
              <a:t>Техприложение §6; меньше — лучше</a:t>
            </a:r>
          </a:p>
          <a:p>
            <a:pPr algn="l"/>
            <a:r>
              <a:rPr lang="ru-RU" sz="1400" b="0">
                <a:solidFill>
                  <a:schemeClr val="tx1"/>
                </a:solidFill>
              </a:rPr>
              <a:t>strict v1: 15,93 + 4,66 = 20,59</a:t>
            </a:r>
          </a:p>
          <a:p>
            <a:pPr algn="l"/>
            <a:r>
              <a:rPr lang="ru-RU" sz="1400" b="0">
                <a:solidFill>
                  <a:schemeClr val="tx1"/>
                </a:solidFill>
              </a:rPr>
              <a:t>strict v2: 16,67 + 5,42 = 22,09</a:t>
            </a:r>
          </a:p>
          <a:p>
            <a:pPr algn="l"/>
            <a:r>
              <a:rPr lang="ru-RU" sz="1400" b="0">
                <a:solidFill>
                  <a:schemeClr val="tx1"/>
                </a:solidFill>
              </a:rPr>
              <a:t>Четыре присоединения выгоднее одного: v2 длиннее на 254 м и дороже на 18,2 млн ₽</a:t>
            </a:r>
          </a:p>
          <a:p>
            <a:pPr algn="l"/>
            <a:r>
              <a:rPr lang="ru-RU" sz="1400" b="0">
                <a:solidFill>
                  <a:schemeClr val="tx1"/>
                </a:solidFill>
              </a:rPr>
              <a:t>Предельная длина (§2.3): наибольшая загрузка — 28 % (ДУ 65: 69 м из 245 м)</a:t>
            </a:r>
          </a:p>
          <a:p>
            <a:pPr algn="l"/>
            <a:r>
              <a:rPr lang="ru-RU" sz="1400" b="0">
                <a:solidFill>
                  <a:schemeClr val="tx1"/>
                </a:solidFill>
              </a:rPr>
              <a:t>Поворот ≤ 90° — в каждой вершине трассы и в каждой камере разветвления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dirty="0" sz="1100">
                <a:solidFill>
                  <a:schemeClr val="tx1"/>
                </a:solidFill>
              </a:rPr>
              <a:t>Ограничения набора: ОКС (85), вода (2), ж/д (1) — обход с отступом по таблице 2 (у ОКС 5 м + ½ ширины пары труб)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Спецпроход на наборе: v2 пересекает существующую сеть 128 (Kспец 1,05, технические узлы). Дорога, трамвай, газ, кабель — 15 сценариев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Нет маршрута → частичный результат, id в unconnected_oks_ids, штраф и причина; точки с битыми данными тоже не теряются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Реконструкция существующей сети по приложению ред. 18.09 не выполняется; справочно: добавленный расход — до 52 % пропускной способности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dirty="0" sz="1100">
                <a:solidFill>
                  <a:schemeClr val="tx1"/>
                </a:solidFill>
              </a:rPr>
              <a:t>Границы: 2D (глубина необязательна), эвристика без гарантии оптимума, все трактовки раскрыты в выгрузке и интерфейсе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 dirty="0"/>
              <a:t>РАНЖИРОВАНИЕ И ОГРАНИЧЕНИЯ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dirty="0" b="1">
                <a:solidFill>
                  <a:schemeClr val="tx1"/>
                </a:solidFill>
              </a:rPr>
              <a:t>Режим с глубиной</a:t>
            </a:r>
          </a:p>
          <a:p>
            <a:r>
              <a:rPr lang="ru-RU" dirty="0">
                <a:solidFill>
                  <a:schemeClr val="tx1"/>
                </a:solidFill>
              </a:rPr>
              <a:t>Отдельный расчёт с вертикальными правилами пересечений и коэффициентом глубины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dirty="0" b="1">
                <a:solidFill>
                  <a:schemeClr val="tx1"/>
                </a:solidFill>
              </a:rPr>
              <a:t>Масштаб</a:t>
            </a:r>
          </a:p>
          <a:p>
            <a:r>
              <a:rPr lang="ru-RU" dirty="0">
                <a:solidFill>
                  <a:schemeClr val="tx1"/>
                </a:solidFill>
              </a:rPr>
              <a:t>Инкрементальный пересчёт препятствий и параллельный перебор вариантов — для тысяч целей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>
                <a:solidFill>
                  <a:schemeClr val="tx1"/>
                </a:solidFill>
              </a:rPr>
              <a:t>Внедрение</a:t>
            </a:r>
          </a:p>
          <a:p>
            <a:r>
              <a:rPr lang="ru-RU">
                <a:solidFill>
                  <a:schemeClr val="tx1"/>
                </a:solidFill>
              </a:rPr>
              <a:t>Интеграция с ГИС города; при появлении в данных текущих расходов — проверка пропускной способности существующей сети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 dirty="0"/>
              <a:t>РАЗВИТИЕ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dirty="0">
                <a:solidFill>
                  <a:schemeClr val="accent5"/>
                </a:solidFill>
              </a:rPr>
              <a:t>1. Чтение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dirty="0">
                <a:solidFill>
                  <a:schemeClr val="tx1"/>
                </a:solidFill>
              </a:rPr>
              <a:t>GeoJSON потоком в два прохода, EPSG:32637, окна поиска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dirty="0">
                <a:solidFill>
                  <a:schemeClr val="accent5"/>
                </a:solidFill>
              </a:rPr>
              <a:t>3. Трасса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A* по графу видимости: поворот ≤ 90°, цена — вклад в S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dirty="0">
                <a:solidFill>
                  <a:schemeClr val="accent5"/>
                </a:solidFill>
              </a:rPr>
              <a:t>5. Результат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Два варианта (по желанию три), ранжирование по S, GeoJSON по §7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chemeClr val="accent5"/>
                </a:solidFill>
              </a:rPr>
              <a:t>2. Препятствия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dirty="0">
                <a:solidFill>
                  <a:schemeClr val="tx1"/>
                </a:solidFill>
              </a:rPr>
              <a:t>Отступ + ½ габарита по таблице 2, зоны спецпроходов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dirty="0">
                <a:solidFill>
                  <a:schemeClr val="accent5"/>
                </a:solidFill>
              </a:rPr>
              <a:t>4. Общая сеть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Присоединение к существующей сети или ответвление от новой в камере, пересчёт ДУ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 dirty="0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64C56CA4-DEF9-5625-89CB-6C07486C2532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D2A0318-C089-B05C-98D0-C8E15942D3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52" y="904538"/>
            <a:ext cx="4551334" cy="3557364"/>
          </a:xfrm>
          <a:prstGeom prst="rect">
            <a:avLst/>
          </a:prstGeom>
        </p:spPr>
      </p:pic>
      <p:pic>
        <p:nvPicPr>
          <p:cNvPr id="2" name="Рисунок 1" descr="viewer_43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l="117" r="117"/>
          <a:stretch>
            <a:fillRect/>
          </a:stretch>
        </p:blipFill>
        <p:spPr/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52D5942-B353-44B0-BA5B-56640646D1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C247253-002A-413B-B1BF-2661F6820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 b="1">
                <a:solidFill>
                  <a:schemeClr val="tx1"/>
                </a:solidFill>
              </a:rPr>
              <a:t>Загрузка и расчёт</a:t>
            </a:r>
          </a:p>
          <a:p>
            <a:pPr marL="0" indent="0">
              <a:buNone/>
            </a:pPr>
            <a:r>
              <a:rPr lang="ru-RU" dirty="0">
                <a:solidFill>
                  <a:schemeClr val="tx1"/>
                </a:solidFill>
              </a:rPr>
              <a:t>Файл до 3 ГБ потоком (проверено 3,0 ГБ — 6 мин), очередь заданий и статус, API в Swagger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1719752-EED6-4EE5-BE5A-FB401278B9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chemeClr val="tx1"/>
                </a:solidFill>
              </a:rPr>
              <a:t>Карта результата</a:t>
            </a:r>
          </a:p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Варианты, камеры, спецпроходы, предельная длина и блок «Трактовки и отступления»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616E677-DB7C-4B76-AAC0-44E0CBDD2C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chemeClr val="tx1"/>
                </a:solidFill>
              </a:rPr>
              <a:t>Развёртывание</a:t>
            </a:r>
          </a:p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docker-compose 1.29.2: приложение и PostgreSQL 16, Java 11</a:t>
            </a: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F4D2037-46B3-D253-D9E2-75E4F6E77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 dirty="0"/>
              <a:t>СЕРВИС</a:t>
            </a:r>
          </a:p>
        </p:txBody>
      </p:sp>
    </p:spTree>
    <p:extLst>
      <p:ext uri="{BB962C8B-B14F-4D97-AF65-F5344CB8AC3E}">
        <p14:creationId xmlns:p14="http://schemas.microsoft.com/office/powerpoint/2010/main" val="1099989456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