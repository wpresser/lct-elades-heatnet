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f73fe02b5f441e" /><Relationship Type="http://schemas.openxmlformats.org/officeDocument/2006/relationships/extended-properties" Target="/docProps/app.xml" Id="R21cef4ab97fc48e2" /><Relationship Type="http://schemas.openxmlformats.org/officeDocument/2006/relationships/officeDocument" Target="/ppt/presentation.xml" Id="R499fe12d0bd843df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1ff6a9966b044cba"/>
  </p:sldMasterIdLst>
  <p:notesMasterIdLst>
    <p:notesMasterId r:id="Rb9c8903bca054c07"/>
  </p:notesMasterIdLst>
  <p:sldIdLst>
    <p:sldId id="256" r:id="R33aa9ac2e27f4afb"/>
    <p:sldId id="261" r:id="R0b8b8720a93e492d"/>
    <p:sldId id="265" r:id="R6c26d55d97314009"/>
    <p:sldId id="266" r:id="Rc07f8412d42040c1"/>
    <p:sldId id="262" r:id="R0acbf002028f4101"/>
    <p:sldId id="263" r:id="R5b854a69a5374b72"/>
    <p:sldId id="267" r:id="R63378b0ea9fe47ad"/>
    <p:sldId id="264" r:id="Rd9e439bcd2e34cbb"/>
    <p:sldId id="257" r:id="R403bb4dafb444341"/>
    <p:sldId id="258" r:id="Rb2d29e5f08e54206"/>
    <p:sldId id="259" r:id="Rb23dc9a19e9e4797"/>
    <p:sldId id="260" r:id="R140a02d141ef418c"/>
  </p:sldIdLst>
  <p:sldSz cx="12192000" cy="6858000"/>
  <p:notesSz cx="6858000" cy="9144000"/>
  <p:defaultTextStyle>
    <a:defPPr>
      <a:buNone/>
    </a:defPPr>
    <a:lvl1pPr marL="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11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22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32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43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554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2658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199765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6877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4e85aed08b4545" /><Relationship Type="http://schemas.openxmlformats.org/officeDocument/2006/relationships/slideMaster" Target="/ppt/slideMasters/slideMaster1.xml" Id="R1ff6a9966b044cba" /><Relationship Type="http://schemas.openxmlformats.org/officeDocument/2006/relationships/notesMaster" Target="/ppt/notesMasters/notesMaster1.xml" Id="Rb9c8903bca054c07" /><Relationship Type="http://schemas.openxmlformats.org/officeDocument/2006/relationships/presProps" Target="/ppt/presProps.xml" Id="R25a87ad32a16443e" /><Relationship Type="http://schemas.openxmlformats.org/officeDocument/2006/relationships/viewProps" Target="/ppt/viewProps.xml" Id="R149c9d7f3a7d484d" /><Relationship Type="http://schemas.openxmlformats.org/officeDocument/2006/relationships/tableStyles" Target="/ppt/tableStyles.xml" Id="Rda35dd096e2949e6" /><Relationship Type="http://schemas.openxmlformats.org/officeDocument/2006/relationships/slide" Target="/ppt/slides/slide1.xml" Id="R33aa9ac2e27f4afb" /><Relationship Type="http://schemas.openxmlformats.org/officeDocument/2006/relationships/slide" Target="/ppt/slides/slide2.xml" Id="R403bb4dafb444341" /><Relationship Type="http://schemas.openxmlformats.org/officeDocument/2006/relationships/slide" Target="/ppt/slides/slide3.xml" Id="Rb2d29e5f08e54206" /><Relationship Type="http://schemas.openxmlformats.org/officeDocument/2006/relationships/slide" Target="/ppt/slides/slide4.xml" Id="Rb23dc9a19e9e4797" /><Relationship Type="http://schemas.openxmlformats.org/officeDocument/2006/relationships/slide" Target="/ppt/slides/slide5.xml" Id="R140a02d141ef418c" /><Relationship Type="http://schemas.openxmlformats.org/officeDocument/2006/relationships/slide" Target="/ppt/slides/slide6.xml" Id="R0b8b8720a93e492d" /><Relationship Type="http://schemas.openxmlformats.org/officeDocument/2006/relationships/slide" Target="/ppt/slides/slide7.xml" Id="R0acbf002028f4101" /><Relationship Type="http://schemas.openxmlformats.org/officeDocument/2006/relationships/slide" Target="/ppt/slides/slide8.xml" Id="R5b854a69a5374b72" /><Relationship Type="http://schemas.openxmlformats.org/officeDocument/2006/relationships/slide" Target="/ppt/slides/slide9.xml" Id="Rd9e439bcd2e34cbb" /><Relationship Type="http://schemas.openxmlformats.org/officeDocument/2006/relationships/slide" Target="/ppt/slides/slide10.xml" Id="R6c26d55d97314009" /><Relationship Type="http://schemas.openxmlformats.org/officeDocument/2006/relationships/slide" Target="/ppt/slides/slide11.xml" Id="Rc07f8412d42040c1" /><Relationship Type="http://schemas.openxmlformats.org/officeDocument/2006/relationships/slide" Target="/ppt/slides/slide12.xml" Id="R63378b0ea9fe47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d9ab69b41e43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62f060856c49df" /><Relationship Type="http://schemas.openxmlformats.org/officeDocument/2006/relationships/notesMaster" Target="/ppt/notesMasters/notesMaster1.xml" Id="R3d5e4bb2b7524e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f34be631544eab" /><Relationship Type="http://schemas.openxmlformats.org/officeDocument/2006/relationships/notesMaster" Target="/ppt/notesMasters/notesMaster1.xml" Id="Ra18a64090c7b4f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20e629c44e49be" /><Relationship Type="http://schemas.openxmlformats.org/officeDocument/2006/relationships/notesMaster" Target="/ppt/notesMasters/notesMaster1.xml" Id="Ra0ff27ab1f7148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fb5dda64284f6c" /><Relationship Type="http://schemas.openxmlformats.org/officeDocument/2006/relationships/notesMaster" Target="/ppt/notesMasters/notesMaster1.xml" Id="Rb7d004da68ce4f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6f4bd7f702417a" /><Relationship Type="http://schemas.openxmlformats.org/officeDocument/2006/relationships/notesMaster" Target="/ppt/notesMasters/notesMaster1.xml" Id="R2111b9284cc741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159aac6c9a45e9" /><Relationship Type="http://schemas.openxmlformats.org/officeDocument/2006/relationships/notesMaster" Target="/ppt/notesMasters/notesMaster1.xml" Id="R03d244a47be241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671207a27e4b8f" /><Relationship Type="http://schemas.openxmlformats.org/officeDocument/2006/relationships/notesMaster" Target="/ppt/notesMasters/notesMaster1.xml" Id="Rd5a68acf857e47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f5cb6724a74952" /><Relationship Type="http://schemas.openxmlformats.org/officeDocument/2006/relationships/notesMaster" Target="/ppt/notesMasters/notesMaster1.xml" Id="Re23900a703dd4d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4ef0948d7b420e" /><Relationship Type="http://schemas.openxmlformats.org/officeDocument/2006/relationships/notesMaster" Target="/ppt/notesMasters/notesMaster1.xml" Id="R1d26f8bbfa5941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c559db15c14915" /><Relationship Type="http://schemas.openxmlformats.org/officeDocument/2006/relationships/notesMaster" Target="/ppt/notesMasters/notesMaster1.xml" Id="R914b374e88394c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649f0ee53b40f9" /><Relationship Type="http://schemas.openxmlformats.org/officeDocument/2006/relationships/notesMaster" Target="/ppt/notesMasters/notesMaster1.xml" Id="Re4d7bfc6b99742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5fe02acaec495c" /><Relationship Type="http://schemas.openxmlformats.org/officeDocument/2006/relationships/notesMaster" Target="/ppt/notesMasters/notesMaster1.xml" Id="R116ece0a63504ae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Сергей. 0:00–0:12.</a:t>
            </a:r>
          </a:p>
          <a:p/>
          <a:p>
            <a:r>
              <a:t>Здравствуйте! Мы команда Elades из Экономического лицея. Мы сделали сервис, который предлагает варианты подключения новых зданий к тепловым сетям. Покажем, как он работает.</a:t>
            </a:r>
          </a:p>
          <a:p>
            <a:r>
              <a:t/>
            </a:r>
          </a:p>
          <a:p>
            <a:r>
              <a:t>Источники: техническое приложение, разделы 2–7; дополнительные разъяснения 29.09 №15; FINAL_METRICS.json; повторная проверка S от 20.10.2026.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сведения о команде и решении. В основном пятиминутном выступлении этот слайд пропускаем.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сведения о команде и решении. В основном пятиминутном выступлении этот слайд пропускаем.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сведения о команде и решении. В основном пятиминутном выступлении этот слайд пропускаем.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сведения о команде и решении. В основном пятиминутном выступлении этот слайд пропускаем.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Сергей. 0:12–1:15.</a:t>
            </a:r>
          </a:p>
          <a:p/>
          <a:p>
            <a:r>
              <a:t>При подключении здания важно не просто провести короткую линию. Нужно обойти препятствия, выбрать место присоединения и учесть общий расход нескольких зданий. Наш сервис получает файл с картой существующей сети, зданиями и ограничениями. На выходе инженер получает варианты трасс с диаметрами, стоимостью и объяснениями. На конкурсном наборе подключены все семнадцать точек. Лучший найденный вариант — около одного километра восьмисот сорока шести метров и двухсот семидесяти четырёх миллионов рублей по модели задания. Это предварительная трассировка для сравнения решений. На карте можно открыть участок и увидеть его параметры. Мы сохранили и строгий режим для сравнения правил. Данила объяснит, как строится сеть.</a:t>
            </a:r>
          </a:p>
          <a:p>
            <a:r>
              <a:t/>
            </a:r>
          </a:p>
          <a:p>
            <a:r>
              <a:t>Источники: техническое приложение, разделы 2–7; дополнительные разъяснения 29.09 №15; FINAL_METRICS.json; повторная проверка S от 20.10.2026.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Андрей. 2:30–3:35.</a:t>
            </a:r>
          </a:p>
          <a:p/>
          <a:p>
            <a:r>
              <a:t>На карте основной вариант. У него четыре присоединения к существующей сети и десять камер разветвления. Общие участки обслуживают несколько зданий, поэтому мы не тянем отдельную трубу к каждому потребителю. После обратной связи экспертов мы выровняли часть трасс вдоль застройки и отдельно проверили сложные вводы. У точек два и десять ближайший выход закрыт другим крылом того же здания с учётом отступа. По официальному разъяснению пятнадцать выбрали другой короткий прямой ввод через внешнюю границу. У точки пять используем ближайшую внешнюю стену, а не стену двора. Во всех случаях остальные препятствия и отступы продолжают действовать. Подключение подтверждено путём по графу до существующей сети, а не только картинкой.</a:t>
            </a:r>
          </a:p>
          <a:p>
            <a:r>
              <a:t/>
            </a:r>
          </a:p>
          <a:p>
            <a:r>
              <a:t>Источники: техническое приложение, разделы 2–7; дополнительные разъяснения 29.09 №15; FINAL_METRICS.json; повторная проверка S от 20.10.2026.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Андрей. 3:35–4:30.</a:t>
            </a:r>
          </a:p>
          <a:p/>
          <a:p>
            <a:r>
              <a:t>Мы показываем два разных решения. В первом четыре присоединения. Во втором одно присоединение, но сеть длиннее и дороже. Для ранжирования используем формулу задания: семьдесят процентов нормированной стоимости и тридцать процентов нормированной длины. У первого варианта показатель около тринадцати целых двух десятых. Это показатель сравнения вариантов. Отдельно мы добавили в копию набора реальные дороги OpenStreetMap. Здесь сервис учитывает специальные пересечения и их удорожание. Этот сценарий проверяет работу с дополнительными ограничениями. Сравнивать его численно с исходным набором как улучшение было бы некорректно.</a:t>
            </a:r>
          </a:p>
          <a:p>
            <a:r>
              <a:t/>
            </a:r>
          </a:p>
          <a:p>
            <a:r>
              <a:t>Источники: техническое приложение, разделы 2–7; дополнительные разъяснения 29.09 №15; FINAL_METRICS.json; повторная проверка S от 20.10.2026.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Резерв для вопросов. S = 0,7 × C / 25 млн + 0,3 × L / 100. V1: 7,66 + 5,54 = 13,20. Глобальный оптимум не доказан. Реальный резерв существующей сети без текущих расходов не рассчитываем.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Данила. 1:15–2:00.</a:t>
            </a:r>
          </a:p>
          <a:p/>
          <a:p>
            <a:r>
              <a:t>Алгоритм работает в метрах. Мы переводим координаты карты в систему, указанную в задании. Затем расширяем препятствия на обязательный отступ и половину ширины пары труб. Между доступными точками строим граф и ищем пути алгоритмом A*. Он выбирает перспективные продолжения с учётом стоимости, длины и поворотов. Новые здания могут пользоваться общей магистралью. Поэтому после добавления каждой ветки мы заново суммируем расходы и подбираем диаметры по таблице задания. Повороты проверяем и на трассе, и в камерах.</a:t>
            </a:r>
          </a:p>
          <a:p>
            <a:r>
              <a:t/>
            </a:r>
          </a:p>
          <a:p>
            <a:r>
              <a:t>Источники: техническое приложение, разделы 2–7; дополнительные разъяснения 29.09 №15; FINAL_METRICS.json; повторная проверка S от 20.10.2026.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Данила. 2:00–2:30.</a:t>
            </a:r>
          </a:p>
          <a:p/>
          <a:p>
            <a:r>
              <a:t>Сервис работает на Java. PostgreSQL хранит сведения о заданиях. Файл загружается через интерфейс или API, расчёт выполняется в очереди, готовый GeoJSON можно скачать. Два отдельных проверяющих инструмента заново проверяют геометрию, расходы и стоимость результата. Запуск и сохранность задания после перезапуска проверены в Docker. Андрей покажет результат.</a:t>
            </a:r>
          </a:p>
          <a:p>
            <a:r>
              <a:t/>
            </a:r>
          </a:p>
          <a:p>
            <a:r>
              <a:t>Источники: техническое приложение, разделы 2–7; дополнительные разъяснения 29.09 №15; FINAL_METRICS.json; повторная проверка S от 20.10.2026.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Андрей. 4:30–5:00.</a:t>
            </a:r>
          </a:p>
          <a:p/>
          <a:p>
            <a:r>
              <a:t>Сегодня сервис помогает получить и проверить предварительные варианты трассировки. Давления и реальный резерв существующей сети мы не рассчитываем: для этого нужны дополнительные исходные данные. Следующие шаги — проверка на больших городских наборах, режим с глубиной и интеграция с городской ГИС. Спасибо! Готовы ответить на вопросы.</a:t>
            </a:r>
          </a:p>
          <a:p>
            <a:r>
              <a:t/>
            </a:r>
          </a:p>
          <a:p>
            <a:r>
              <a:t>Источники: техническое приложение, разделы 2–7; дополнительные разъяснения 29.09 №15; FINAL_METRICS.json; повторная проверка S от 20.10.2026.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0ced7de1714d63" /><Relationship Type="http://schemas.openxmlformats.org/officeDocument/2006/relationships/image" Target="/ppt/media/image2.png" Id="R8823f912f1c448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0d87de63854c0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a55573608940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5d86289c774d1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9d41d160134a6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4a93230092415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f8cf2190cd4cd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d2d18e53b1495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f032d0c9ad4d6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7a2a050554ef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5c82622c54f69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4059bda0f44a86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5209ffab9843f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c89af9230245e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081614b424ac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d57b5a275346d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fad7ce76f4624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8edc096821480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7c7a94ebb84568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255bbe90f14a0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188f93b2a0401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772551602648c5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5e996bbfef47cb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8823f912f1c4481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81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b174703f20074c67" /><Relationship Type="http://schemas.openxmlformats.org/officeDocument/2006/relationships/theme" Target="/ppt/slideMasters/theme/theme2.xml" Id="Ra87dc689541f4e5e" /><Relationship Type="http://schemas.openxmlformats.org/officeDocument/2006/relationships/slideLayout" Target="/ppt/slideLayouts/slideLayout1.xml" Id="R1971210a1e1a49f4" /><Relationship Type="http://schemas.openxmlformats.org/officeDocument/2006/relationships/slideLayout" Target="/ppt/slideLayouts/slideLayout2.xml" Id="R1e275ca4858e4a1d" /><Relationship Type="http://schemas.openxmlformats.org/officeDocument/2006/relationships/slideLayout" Target="/ppt/slideLayouts/slideLayout3.xml" Id="R17785c8927024ef3" /><Relationship Type="http://schemas.openxmlformats.org/officeDocument/2006/relationships/slideLayout" Target="/ppt/slideLayouts/slideLayout4.xml" Id="R53e515dbd393498f" /><Relationship Type="http://schemas.openxmlformats.org/officeDocument/2006/relationships/slideLayout" Target="/ppt/slideLayouts/slideLayout5.xml" Id="R9901555b092345bf" /><Relationship Type="http://schemas.openxmlformats.org/officeDocument/2006/relationships/slideLayout" Target="/ppt/slideLayouts/slideLayout6.xml" Id="R819d24c525da4979" /><Relationship Type="http://schemas.openxmlformats.org/officeDocument/2006/relationships/slideLayout" Target="/ppt/slideLayouts/slideLayout7.xml" Id="Reff436cca1c64379" /><Relationship Type="http://schemas.openxmlformats.org/officeDocument/2006/relationships/slideLayout" Target="/ppt/slideLayouts/slideLayout8.xml" Id="Rc097797cecb7411e" /><Relationship Type="http://schemas.openxmlformats.org/officeDocument/2006/relationships/slideLayout" Target="/ppt/slideLayouts/slideLayout9.xml" Id="Ra1394f5a09254d1b" /><Relationship Type="http://schemas.openxmlformats.org/officeDocument/2006/relationships/slideLayout" Target="/ppt/slideLayouts/slideLayout10.xml" Id="R0a9e5865a3f14da4" /><Relationship Type="http://schemas.openxmlformats.org/officeDocument/2006/relationships/slideLayout" Target="/ppt/slideLayouts/slideLayout11.xml" Id="R9ba2fee349434e32" /><Relationship Type="http://schemas.openxmlformats.org/officeDocument/2006/relationships/slideLayout" Target="/ppt/slideLayouts/slideLayout12.xml" Id="Ra3dd9aeabb924fe0" /><Relationship Type="http://schemas.openxmlformats.org/officeDocument/2006/relationships/slideLayout" Target="/ppt/slideLayouts/slideLayout13.xml" Id="Rd96ac7b0ac48423a" /><Relationship Type="http://schemas.openxmlformats.org/officeDocument/2006/relationships/slideLayout" Target="/ppt/slideLayouts/slideLayout14.xml" Id="R78cfaccb6ba04f0c" /><Relationship Type="http://schemas.openxmlformats.org/officeDocument/2006/relationships/slideLayout" Target="/ppt/slideLayouts/slideLayout15.xml" Id="Rc184b02a8286400e" /><Relationship Type="http://schemas.openxmlformats.org/officeDocument/2006/relationships/slideLayout" Target="/ppt/slideLayouts/slideLayout16.xml" Id="Rf8eb0f3c3e704921" /><Relationship Type="http://schemas.openxmlformats.org/officeDocument/2006/relationships/slideLayout" Target="/ppt/slideLayouts/slideLayout17.xml" Id="Read21508ec5c4964" /><Relationship Type="http://schemas.openxmlformats.org/officeDocument/2006/relationships/slideLayout" Target="/ppt/slideLayouts/slideLayout18.xml" Id="Rd0e25b016f1d42b0" /><Relationship Type="http://schemas.openxmlformats.org/officeDocument/2006/relationships/slideLayout" Target="/ppt/slideLayouts/slideLayout19.xml" Id="Rc516b972c91241fc" /><Relationship Type="http://schemas.openxmlformats.org/officeDocument/2006/relationships/slideLayout" Target="/ppt/slideLayouts/slideLayout20.xml" Id="Rac63d0b5033f4b27" /><Relationship Type="http://schemas.openxmlformats.org/officeDocument/2006/relationships/slideLayout" Target="/ppt/slideLayouts/slideLayout21.xml" Id="R3423f1f263d441f5" /><Relationship Type="http://schemas.openxmlformats.org/officeDocument/2006/relationships/slideLayout" Target="/ppt/slideLayouts/slideLayout22.xml" Id="Rcbc9c0526a474f4e" /><Relationship Type="http://schemas.openxmlformats.org/officeDocument/2006/relationships/slideLayout" Target="/ppt/slideLayouts/slideLayout23.xml" Id="Rb1c2b0664e6c4f10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174703f20074c6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71210a1e1a49f4"/>
    <p:sldLayoutId xmlns:r="http://schemas.openxmlformats.org/officeDocument/2006/relationships" id="2147483650" r:id="R1e275ca4858e4a1d"/>
    <p:sldLayoutId xmlns:r="http://schemas.openxmlformats.org/officeDocument/2006/relationships" id="2147483651" r:id="R17785c8927024ef3"/>
    <p:sldLayoutId xmlns:r="http://schemas.openxmlformats.org/officeDocument/2006/relationships" id="2147483652" r:id="R53e515dbd393498f"/>
    <p:sldLayoutId xmlns:r="http://schemas.openxmlformats.org/officeDocument/2006/relationships" id="2147483653" r:id="R9901555b092345bf"/>
    <p:sldLayoutId xmlns:r="http://schemas.openxmlformats.org/officeDocument/2006/relationships" id="2147483654" r:id="R819d24c525da4979"/>
    <p:sldLayoutId xmlns:r="http://schemas.openxmlformats.org/officeDocument/2006/relationships" id="2147483655" r:id="Reff436cca1c64379"/>
    <p:sldLayoutId xmlns:r="http://schemas.openxmlformats.org/officeDocument/2006/relationships" id="2147483656" r:id="Rc097797cecb7411e"/>
    <p:sldLayoutId xmlns:r="http://schemas.openxmlformats.org/officeDocument/2006/relationships" id="2147483657" r:id="Ra1394f5a09254d1b"/>
    <p:sldLayoutId xmlns:r="http://schemas.openxmlformats.org/officeDocument/2006/relationships" id="2147483658" r:id="R0a9e5865a3f14da4"/>
    <p:sldLayoutId xmlns:r="http://schemas.openxmlformats.org/officeDocument/2006/relationships" id="2147483659" r:id="R9ba2fee349434e32"/>
    <p:sldLayoutId xmlns:r="http://schemas.openxmlformats.org/officeDocument/2006/relationships" id="2147483660" r:id="Ra3dd9aeabb924fe0"/>
    <p:sldLayoutId xmlns:r="http://schemas.openxmlformats.org/officeDocument/2006/relationships" id="2147483661" r:id="Rd96ac7b0ac48423a"/>
    <p:sldLayoutId xmlns:r="http://schemas.openxmlformats.org/officeDocument/2006/relationships" id="2147483662" r:id="R78cfaccb6ba04f0c"/>
    <p:sldLayoutId xmlns:r="http://schemas.openxmlformats.org/officeDocument/2006/relationships" id="2147483663" r:id="Rc184b02a8286400e"/>
    <p:sldLayoutId xmlns:r="http://schemas.openxmlformats.org/officeDocument/2006/relationships" id="2147483664" r:id="Rf8eb0f3c3e704921"/>
    <p:sldLayoutId xmlns:r="http://schemas.openxmlformats.org/officeDocument/2006/relationships" id="2147483665" r:id="Read21508ec5c4964"/>
    <p:sldLayoutId xmlns:r="http://schemas.openxmlformats.org/officeDocument/2006/relationships" id="2147483666" r:id="Rd0e25b016f1d42b0"/>
    <p:sldLayoutId xmlns:r="http://schemas.openxmlformats.org/officeDocument/2006/relationships" id="2147483667" r:id="Rc516b972c91241fc"/>
    <p:sldLayoutId xmlns:r="http://schemas.openxmlformats.org/officeDocument/2006/relationships" id="2147483668" r:id="Rac63d0b5033f4b27"/>
    <p:sldLayoutId xmlns:r="http://schemas.openxmlformats.org/officeDocument/2006/relationships" id="2147483669" r:id="R3423f1f263d441f5"/>
    <p:sldLayoutId xmlns:r="http://schemas.openxmlformats.org/officeDocument/2006/relationships" id="2147483670" r:id="Rcbc9c0526a474f4e"/>
    <p:sldLayoutId xmlns:r="http://schemas.openxmlformats.org/officeDocument/2006/relationships" id="2147483671" r:id="Rb1c2b0664e6c4f10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5c46f21634b32" /><Relationship Type="http://schemas.openxmlformats.org/officeDocument/2006/relationships/image" Target="/ppt/media/image3.png" Id="Rb9b1887d06c54049" /><Relationship Type="http://schemas.openxmlformats.org/officeDocument/2006/relationships/notesSlide" Target="/ppt/notesSlides/notesSlide1.xml" Id="R1d04a1c1dd9044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5e71b1d12a422c" /><Relationship Type="http://schemas.openxmlformats.org/officeDocument/2006/relationships/image" Target="/ppt/media/image4.png" Id="Ra0a0dc471d2e4057" /><Relationship Type="http://schemas.openxmlformats.org/officeDocument/2006/relationships/image" Target="/ppt/media/image5.png" Id="Rd23f6c2884e6476d" /><Relationship Type="http://schemas.openxmlformats.org/officeDocument/2006/relationships/notesSlide" Target="/ppt/notesSlides/notesSlide2.xml" Id="R986a85c2b01942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dfcda09691f4699" /><Relationship Type="http://schemas.openxmlformats.org/officeDocument/2006/relationships/image" Target="/ppt/media/image.png" Id="Rce18ecb155194165" /><Relationship Type="http://schemas.openxmlformats.org/officeDocument/2006/relationships/image" Target="/ppt/media/image6.png" Id="Rad34cb3ced0e49d7" /><Relationship Type="http://schemas.openxmlformats.org/officeDocument/2006/relationships/image" Target="/ppt/media/image7.png" Id="Rd67f57fd4f304ecd" /><Relationship Type="http://schemas.openxmlformats.org/officeDocument/2006/relationships/image" Target="/ppt/media/image8.png" Id="R8f45299dd34e4f9f" /><Relationship Type="http://schemas.openxmlformats.org/officeDocument/2006/relationships/notesSlide" Target="/ppt/notesSlides/notesSlide3.xml" Id="R02a52a0c2c224c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82f3e00c31e4551" /><Relationship Type="http://schemas.openxmlformats.org/officeDocument/2006/relationships/image" Target="/ppt/media/image9.png" Id="Rb3dd853109b44511" /><Relationship Type="http://schemas.openxmlformats.org/officeDocument/2006/relationships/notesSlide" Target="/ppt/notesSlides/notesSlide4.xml" Id="R6e4c250b3af940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e1416c6634e419e" /><Relationship Type="http://schemas.openxmlformats.org/officeDocument/2006/relationships/image" Target="/ppt/media/image.png" Id="Rf1f7585ec6fe4786" /><Relationship Type="http://schemas.openxmlformats.org/officeDocument/2006/relationships/notesSlide" Target="/ppt/notesSlides/notesSlide5.xml" Id="Ra6f1c26a2e8641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45e2e65a59b42a3" /><Relationship Type="http://schemas.openxmlformats.org/officeDocument/2006/relationships/image" Target="/ppt/media/image.png" Id="Rf93cd39905884e2c" /><Relationship Type="http://schemas.openxmlformats.org/officeDocument/2006/relationships/notesSlide" Target="/ppt/notesSlides/notesSlide6.xml" Id="Raafe5f36bec341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ddce8905ca645fa" /><Relationship Type="http://schemas.openxmlformats.org/officeDocument/2006/relationships/image" Target="/ppt/media/image.png" Id="Ra84aa22fd3c64748" /><Relationship Type="http://schemas.openxmlformats.org/officeDocument/2006/relationships/image" Target="/ppt/media/image10.png" Id="R7832122e37914393" /><Relationship Type="http://schemas.openxmlformats.org/officeDocument/2006/relationships/notesSlide" Target="/ppt/notesSlides/notesSlide7.xml" Id="R501eb742d0584c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b59561855ef45df" /><Relationship Type="http://schemas.openxmlformats.org/officeDocument/2006/relationships/image" Target="/ppt/media/image9.png" Id="Rf5fb40ad164247a4" /><Relationship Type="http://schemas.openxmlformats.org/officeDocument/2006/relationships/image" Target="/ppt/media/image11.png" Id="R77c76783d1e64827" /><Relationship Type="http://schemas.openxmlformats.org/officeDocument/2006/relationships/image" Target="/ppt/media/image12.png" Id="R27a9f742918e4eca" /><Relationship Type="http://schemas.openxmlformats.org/officeDocument/2006/relationships/image" Target="/ppt/media/image13.png" Id="Rcc23ef51ca9b4171" /><Relationship Type="http://schemas.openxmlformats.org/officeDocument/2006/relationships/notesSlide" Target="/ppt/notesSlides/notesSlide8.xml" Id="R68b04377e25940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147fa42c41fd4a3b" /><Relationship Type="http://schemas.openxmlformats.org/officeDocument/2006/relationships/image" Target="/ppt/media/image4.png" Id="Rddeed6d704694275" /><Relationship Type="http://schemas.openxmlformats.org/officeDocument/2006/relationships/notesSlide" Target="/ppt/notesSlides/notesSlide9.xml" Id="R4b8f65f88f0341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ad70d754a044b9f" /><Relationship Type="http://schemas.openxmlformats.org/officeDocument/2006/relationships/image" Target="/ppt/media/image4.png" Id="R110457d684744333" /><Relationship Type="http://schemas.openxmlformats.org/officeDocument/2006/relationships/notesSlide" Target="/ppt/notesSlides/notesSlide10.xml" Id="R60da64404e9445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3987253c43914bee" /><Relationship Type="http://schemas.openxmlformats.org/officeDocument/2006/relationships/image" Target="/ppt/media/image4.png" Id="Rea30c011966c4e5e" /><Relationship Type="http://schemas.openxmlformats.org/officeDocument/2006/relationships/image" Target="/ppt/media/image14.png" Id="R9a7791d32b6a4555" /><Relationship Type="http://schemas.openxmlformats.org/officeDocument/2006/relationships/image" Target="/ppt/media/image15.png" Id="Rb8027ab5ea9847cf" /><Relationship Type="http://schemas.openxmlformats.org/officeDocument/2006/relationships/notesSlide" Target="/ppt/notesSlides/notesSlide11.xml" Id="R323bd78bd2914f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64284e90e6b43af" /><Relationship Type="http://schemas.openxmlformats.org/officeDocument/2006/relationships/image" Target="/ppt/media/image.png" Id="R11a1a81f69e34117" /><Relationship Type="http://schemas.openxmlformats.org/officeDocument/2006/relationships/notesSlide" Target="/ppt/notesSlides/notesSlide12.xml" Id="R7fab2db1d1fc48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</a:pPr>
            <a:r>
              <a:rPr sz="4800"/>
              <a:t>Elades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</a:pPr>
            <a:r>
              <a:t>Сервис моделирования трасс подключения к тепловым сетям</a:t>
            </a:r>
          </a:p>
          <a:p xmlns:a="http://schemas.openxmlformats.org/drawingml/2006/main">
            <a:pPr indent="268288">
              <a:buNone/>
            </a:pPr>
            <a:r>
              <a:t>ЛЦТ 2026 · задача 2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1887d06c540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57200"/>
            <a:ext cx="2668742" cy="8229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rotWithShape="1">
          <a:blip r:embed="Ra0a0dc471d2e405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/>
      </p:grpSpPr>
      <p:sp>
        <p:nvSpPr>
          <p:cNvPr id="3" name="Прямоугольник 2">
            <a:extLst>
              <a:ext uri="{FF2B5EF4-FFF2-40B4-BE49-F238E27FC236}">
                <ns3:creationId id="{13BA75DB-8EAE-769C-2B17-FF7CD6EEF6C6}"/>
              </a:ext>
            </a:extLst>
          </p:cNvPr>
          <p:cNvSpPr>
            <a:spLocks noGrp="1"/>
          </p:cNvSpPr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/>
          <a:fillRef idx="0"/>
          <a:effectRef idx="0"/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/>
          </a:p>
        </p:txBody>
      </p:sp>
      <p:pic>
        <p:nvPicPr>
          <p:cNvPr id="21" name="Рисунок 1"/>
          <p:cNvPicPr>
            <a:picLocks noChangeAspect="1"/>
          </p:cNvPicPr>
          <p:nvPr>
            <p:ph type="pic" idx="10"/>
          </p:nvPr>
        </p:nvPicPr>
        <p:blipFill>
          <a:blip r:embed="Rd23f6c2884e6476d"/>
          <a:srcRect l="11" t="0" r="11" b="0"/>
          <a:stretch>
            <a:fillRect l="0" t="0" r="0" b="0"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ns3:creationId id="{32D7670A-4313-AE7C-DDA9-134ADC224C94}"/>
              </a:ext>
            </a:extLst>
          </p:cNvPr>
          <p:cNvSpPr>
            <a:spLocks noGrp="1"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ns3:creationId id="{D8A04531-793D-BF7A-34F3-615C18C06BA5}"/>
              </a:ext>
            </a:extLst>
          </p:cNvPr>
          <p:cNvSpPr>
            <a:spLocks noGrp="1"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Потребители объединяются в общую сеть-дерево с камерами и пересчётом диаметров; трассы обходят ограничения и идут вдоль застройки; все 17 точек подключены; две проверки команды — 0 найденных ошибок геометрии, стоимости и формата на контрольных результатах.</a:t>
            </a:r>
          </a:p>
        </p:txBody>
      </p:sp>
      <p:sp>
        <p:nvSpPr>
          <p:cNvPr id="14" name="Текст 8">
            <a:extLst>
              <a:ext uri="{FF2B5EF4-FFF2-40B4-BE49-F238E27FC236}">
                <ns3:creationId id="{A66B04C6-E9BA-5BA2-7A5C-84468D491C57}"/>
              </a:ext>
            </a:extLst>
          </p:cNvPr>
          <p:cNvSpPr>
            <a:spLocks noGrp="1"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 fontScale="100000"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Капитан: Зиновьев Сергей Николаевич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11 класс, профиль «Цифровая экономика»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Кол-во участников: 3 человека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Краткое описание: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Команда лицеистов, которые случайно узнали о конкурсе и решили попробовать себя в новом формате.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Место учёбы: Экономический лицей им. Г. В. Плеханова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ns3:creationId id="{835E7A1E-FFEA-1C2F-65E6-56769FEFB842}"/>
              </a:ext>
            </a:extLst>
          </p:cNvPr>
          <p:cNvSpPr>
            <a:spLocks noGrp="1"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ns3:creationId id="{7CB04CCE-DD7B-2901-A280-8E4E07945137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Автотрассировка тепловых сетей</a:t>
            </a:r>
          </a:p>
        </p:txBody>
      </p:sp>
      <p:sp>
        <p:nvSpPr>
          <p:cNvPr id="7" name="Прямая соединительная линия 6">
            <a:extLst>
              <a:ext uri="{FF2B5EF4-FFF2-40B4-BE49-F238E27FC236}">
                <ns3:creationId id="{83BB8741-DC45-431C-B968-FF119BE6BB3B}"/>
              </a:ext>
            </a:extLst>
          </p:cNvPr>
          <p:cNvSpPr>
            <a:spLocks noGrp="1"/>
          </p:cNvSpPr>
          <p:nvPr/>
        </p:nv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16" name="Прямая соединительная линия 15">
            <a:extLst>
              <a:ext uri="{FF2B5EF4-FFF2-40B4-BE49-F238E27FC236}">
                <ns3:creationId id="{434EC69E-F0EF-4054-9EB4-9CBF2F8D0B82}"/>
              </a:ext>
            </a:extLst>
          </p:cNvPr>
          <p:cNvSpPr>
            <a:spLocks noGrp="1"/>
          </p:cNvSpPr>
          <p:nvPr/>
        </p:nv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17" name="Прямая соединительная линия 16">
            <a:extLst>
              <a:ext uri="{FF2B5EF4-FFF2-40B4-BE49-F238E27FC236}">
                <ns3:creationId id="{6EBA3391-77C0-456C-9B24-02877C2F29FB}"/>
              </a:ext>
            </a:extLst>
          </p:cNvPr>
          <p:cNvSpPr>
            <a:spLocks noGrp="1"/>
          </p:cNvSpPr>
          <p:nvPr/>
        </p:nv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4" name="Текст 8">
            <a:extLst>
              <a:ext uri="{FF2B5EF4-FFF2-40B4-BE49-F238E27FC236}">
                <ns3:creationId id="{D556F1CE-69ED-AE0F-D388-9032B66CC535}"/>
              </a:ext>
            </a:extLst>
          </p:cNvPr>
          <p:cNvSpPr>
            <a:spLocks noGrp="1"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ns3:creationId id="{6811D897-A2AE-AA09-747E-1B90C43B5420}"/>
              </a:ext>
            </a:extLst>
          </p:cNvPr>
          <p:cNvSpPr>
            <a:spLocks noGrp="1"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 fontScale="93574"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За один запуск строит варианты новой теплосети: места присоединения, общие ветки, трассы в обход ограничений, расходы, диаметры и стоимость. Результат выдаётся в GeoJSON вместе со списком неподключённых точек.</a:t>
            </a:r>
          </a:p>
        </p:txBody>
      </p:sp>
      <p:sp>
        <p:nvSpPr>
          <p:cNvPr id="10" name="Номер слайда 35">
            <a:extLst>
              <a:ext uri="{FF2B5EF4-FFF2-40B4-BE49-F238E27FC236}">
                <ns3:creationId id="{75D9ACE7-3A6B-03B3-9BA4-502350CBAA74}"/>
              </a:ext>
            </a:extLst>
          </p:cNvPr>
          <p:cNvSpPr>
            <a:spLocks noGrp="1"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ns4:creationId val="3539778944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rotWithShape="1">
          <a:blip r:embed="Rce18ecb15519416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/>
      </p:grpSpPr>
      <p:sp>
        <p:nvSpPr>
          <p:cNvPr id="56" name="Скругленный прямоугольник 55">
            <a:extLst>
              <a:ext uri="{FF2B5EF4-FFF2-40B4-BE49-F238E27FC236}">
                <ns3:creationId id="{635392F3-78F4-5585-E25E-CDBEA7E9F10C}"/>
              </a:ext>
            </a:extLst>
          </p:cNvPr>
          <p:cNvSpPr>
            <a:spLocks noGrp="1"/>
          </p:cNvSpPr>
          <p:nvPr/>
        </p:nvSpPr>
        <p:spPr>
          <a:xfrm>
            <a:off x="499820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ns3:creationId id="{9398668D-F141-1433-7B1B-1518BC470E30}"/>
              </a:ext>
            </a:extLst>
          </p:cNvPr>
          <p:cNvSpPr>
            <a:spLocks noGrp="1"/>
          </p:cNvSpPr>
          <p:nvPr/>
        </p:nvSpPr>
        <p:spPr>
          <a:xfrm>
            <a:off x="5170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 fontScale="100000"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Капитан, разработка и ревью кода</a:t>
            </a:r>
          </a:p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@Swooish</a:t>
            </a:r>
          </a:p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+7 967 050 3939</a:t>
            </a:r>
          </a:p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58" name="Текст 8">
            <a:extLst>
              <a:ext uri="{FF2B5EF4-FFF2-40B4-BE49-F238E27FC236}">
                <ns3:creationId id="{8D1E397B-73F6-7777-9CD1-12E43986247F}"/>
              </a:ext>
            </a:extLst>
          </p:cNvPr>
          <p:cNvSpPr>
            <a:spLocks noGrp="1"/>
          </p:cNvSpPr>
          <p:nvPr/>
        </p:nvSpPr>
        <p:spPr>
          <a:xfrm>
            <a:off x="5170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 fontScale="100000"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1200" b="1">
                <a:solidFill>
                  <a:schemeClr val="accent5"/>
                </a:solidFill>
              </a:rPr>
              <a:t>Зиновьев Сергей</a:t>
            </a:r>
          </a:p>
          <a:p>
            <a:pPr marL="0" indent="0">
              <a:buNone/>
            </a:pPr>
            <a:r>
              <a:rPr sz="1200" b="1">
                <a:solidFill>
                  <a:schemeClr val="accent5"/>
                </a:solidFill>
              </a:rPr>
              <a:t>Николаевич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ns3:creationId id="{0F406257-4D6A-D88A-21D7-91882F262CF5}"/>
              </a:ext>
            </a:extLst>
          </p:cNvPr>
          <p:cNvSpPr>
            <a:spLocks noGrp="1"/>
          </p:cNvSpPr>
          <p:nvPr/>
        </p:nvSpPr>
        <p:spPr>
          <a:xfrm>
            <a:off x="730351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ns3:creationId id="{44C1868D-BA5E-04C0-2882-2494450EF9D6}"/>
              </a:ext>
            </a:extLst>
          </p:cNvPr>
          <p:cNvSpPr>
            <a:spLocks noGrp="1"/>
          </p:cNvSpPr>
          <p:nvPr/>
        </p:nvSpPr>
        <p:spPr>
          <a:xfrm>
            <a:off x="7475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 fontScale="100000"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Ведущий разработчик, архитектор</a:t>
            </a:r>
          </a:p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@danikkiss</a:t>
            </a:r>
          </a:p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+7 915 696 6833</a:t>
            </a:r>
          </a:p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61" name="Текст 8">
            <a:extLst>
              <a:ext uri="{FF2B5EF4-FFF2-40B4-BE49-F238E27FC236}">
                <ns3:creationId id="{1A52C52A-3120-DA42-507D-5AE477E99E60}"/>
              </a:ext>
            </a:extLst>
          </p:cNvPr>
          <p:cNvSpPr>
            <a:spLocks noGrp="1"/>
          </p:cNvSpPr>
          <p:nvPr/>
        </p:nvSpPr>
        <p:spPr>
          <a:xfrm>
            <a:off x="7475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 fontScale="100000"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Овсянников Данила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ns3:creationId id="{FC0035EA-559C-020F-D4A8-B4146A26E8E5}"/>
              </a:ext>
            </a:extLst>
          </p:cNvPr>
          <p:cNvSpPr>
            <a:spLocks noGrp="1"/>
          </p:cNvSpPr>
          <p:nvPr/>
        </p:nvSpPr>
        <p:spPr>
          <a:xfrm>
            <a:off x="269288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ns3:creationId id="{4F9EEB10-D234-64E3-5744-B3981F11A494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/>
          <a:fillRef idx="0"/>
          <a:effectRef idx="0"/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ns3:creationId id="{ADFA4405-6EC1-3A52-92A7-2CA2130BB2B8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52DCC5B9-D646-4B76-891F-6FF4E74E9CB4}" type="slidenum">
              <a:rPr>
                <a:solidFill>
                  <a:schemeClr val="bg1"/>
                </a:solidFill>
              </a:rPr>
              <a:t>9</a:t>
            </a:fld>
            <a:endParaRPr>
              <a:solidFill>
                <a:schemeClr val="bg1"/>
              </a:solidFill>
            </a:endParaRPr>
          </a:p>
        </p:txBody>
      </p:sp>
      <p:pic>
        <p:nvPicPr>
          <p:cNvPr id="71" name="Рисунок 1"/>
          <p:cNvPicPr>
            <a:picLocks noChangeAspect="1"/>
          </p:cNvPicPr>
          <p:nvPr>
            <p:ph type="pic" idx="4294967295"/>
          </p:nvPr>
        </p:nvPicPr>
        <p:blipFill>
          <a:blip r:embed="Rad34cb3ced0e49d7"/>
          <a:srcRect l="0" t="4925" r="0" b="4925"/>
          <a:stretch>
            <a:fillRect l="0" t="0" r="0" b="0"/>
          </a:stretch>
        </p:blipFill>
        <p:spPr>
          <a:xfrm>
            <a:off x="2928204" y="1816054"/>
            <a:ext cx="1722566" cy="1552901"/>
          </a:xfrm>
          <a:prstGeom prst="rect">
            <a:avLst/>
          </a:prstGeom>
        </p:spPr>
      </p:pic>
      <p:pic>
        <p:nvPicPr>
          <p:cNvPr id="72" name="Рисунок 2"/>
          <p:cNvPicPr>
            <a:picLocks noChangeAspect="1"/>
          </p:cNvPicPr>
          <p:nvPr>
            <p:ph type="pic" idx="4294967295"/>
          </p:nvPr>
        </p:nvPicPr>
        <p:blipFill>
          <a:blip r:embed="Rd67f57fd4f304ecd"/>
          <a:srcRect l="0" t="5230" r="0" b="5230"/>
          <a:stretch>
            <a:fillRect l="0" t="0" r="0" b="0"/>
          </a:stretch>
        </p:blipFill>
        <p:spPr>
          <a:xfrm>
            <a:off x="5233274" y="1826554"/>
            <a:ext cx="1722566" cy="1542401"/>
          </a:xfrm>
          <a:prstGeom prst="rect">
            <a:avLst/>
          </a:prstGeom>
        </p:spPr>
      </p:pic>
      <p:pic>
        <p:nvPicPr>
          <p:cNvPr id="73" name="Рисунок 3"/>
          <p:cNvPicPr>
            <a:picLocks noChangeAspect="1"/>
          </p:cNvPicPr>
          <p:nvPr>
            <p:ph type="pic" idx="4294967295"/>
          </p:nvPr>
        </p:nvPicPr>
        <p:blipFill>
          <a:blip r:embed="R8f45299dd34e4f9f"/>
          <a:srcRect l="0" t="4727" r="0" b="4727"/>
          <a:stretch>
            <a:fillRect l="0" t="0" r="0" b="0"/>
          </a:stretch>
        </p:blipFill>
        <p:spPr>
          <a:xfrm>
            <a:off x="7538591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ns3:creationId id="{A8302BF4-F579-F30C-0D0B-9EC587DE2AD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>
                <a:latin typeface="+mn-lt"/>
                <a:ea typeface="+mn-lt"/>
                <a:cs typeface="+mn-lt"/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ns3:creationId id="{8392728C-0D28-63FE-46DB-BBDA5226DAE1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2865167" y="4250028"/>
            <a:ext cx="1894354" cy="1624612"/>
          </a:xfrm>
        </p:spPr>
        <p:txBody>
          <a:bodyPr>
            <a:normAutofit fontScale="100000"/>
          </a:bodyPr>
          <a:lstStyle/>
          <a:p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Анализ ТЗ, проверка и презентация</a:t>
            </a:r>
          </a:p>
          <a:p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@waresar_13</a:t>
            </a:r>
          </a:p>
          <a:p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+7 926 780 3792</a:t>
            </a:r>
          </a:p>
          <a:p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15" name="Текст 8">
            <a:extLst>
              <a:ext uri="{FF2B5EF4-FFF2-40B4-BE49-F238E27FC236}">
                <ns3:creationId id="{34A1767C-75B2-E3D4-5057-DD85E6AB1440}"/>
              </a:ext>
            </a:extLst>
          </p:cNvPr>
          <p:cNvSpPr>
            <a:spLocks noGrp="1"/>
          </p:cNvSpPr>
          <p:nvPr/>
        </p:nvSpPr>
        <p:spPr>
          <a:xfrm>
            <a:off x="2865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 fontScale="100000"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Клыков Андрей</a:t>
            </a:r>
          </a:p>
        </p:txBody>
      </p:sp>
    </p:spTree>
    <p:extLst>
      <p:ext uri="{BB962C8B-B14F-4D97-AF65-F5344CB8AC3E}">
        <ns4:creationId val="922147036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rotWithShape="1">
          <a:blip r:embed="Rb3dd853109b445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Скругленный прямоугольник 1">
            <a:extLst>
              <a:ext uri="{FF2B5EF4-FFF2-40B4-BE49-F238E27FC236}">
                <ns3:creationId id="{9376089D-9A77-730A-ADAF-A685C17F1AED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ns3:creationId id="{74006CB4-BD4D-EF41-3DCA-EDB126B8489E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52DCC5B9-D646-4B76-891F-6FF4E74E9CB4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ns3:creationId id="{9F7DE1A9-1AD8-0498-5446-8F5D409119D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>
                <a:latin typeface="+mn-lt"/>
                <a:ea typeface="+mn-lt"/>
                <a:cs typeface="+mn-lt"/>
              </a:rPr>
              <a:t>О КОМАНДЕ И ПРОЦЕССЕ</a:t>
            </a:r>
          </a:p>
        </p:txBody>
      </p:sp>
      <p:sp>
        <p:nvSpPr>
          <p:cNvPr id="37" name="Текст 8">
            <a:extLst>
              <a:ext uri="{FF2B5EF4-FFF2-40B4-BE49-F238E27FC236}">
                <ns3:creationId id="{C7B87D78-5037-F48A-F05C-8E80D4A5A4D0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533607" y="1602273"/>
            <a:ext cx="10241280" cy="934263"/>
          </a:xfrm>
        </p:spPr>
        <p:txBody>
          <a:bodyPr>
            <a:normAutofit fontScale="10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Мы познакомились в лицее. Все трое участвуем в жизни лицея, ходим на конкурсы, мероприятия и олимпиады. Нам интересно разбираться в новых моделях искусственного интеллекта и пробовать их в работе.</a:t>
            </a:r>
          </a:p>
        </p:txBody>
      </p:sp>
      <p:sp>
        <p:nvSpPr>
          <p:cNvPr id="38" name="Текст 8">
            <a:extLst>
              <a:ext uri="{FF2B5EF4-FFF2-40B4-BE49-F238E27FC236}">
                <ns3:creationId id="{BAD76A99-219B-023F-35AA-74EDFF6A51FC}"/>
              </a:ext>
            </a:extLst>
          </p:cNvPr>
          <p:cNvSpPr>
            <a:spLocks noGrp="1"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ns3:creationId id="{A812662F-49C9-0A37-1671-EE5E187C65D2}"/>
              </a:ext>
            </a:extLst>
          </p:cNvPr>
          <p:cNvSpPr>
            <a:spLocks noGrp="1"/>
          </p:cNvSpPr>
          <p:nvPr/>
        </p:nvSpPr>
        <p:spPr>
          <a:xfrm>
            <a:off x="533607" y="5139255"/>
            <a:ext cx="1024128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Сложнее всего было разобраться в большом ТЗ, проложить трассы с учётом всех ограничений и проверить расчёты. Мы сделали отдельную проверку результата. После обратной связи экспертов: 17 из 17 в основном режиме (доп. разъяснения 29.09, №15), трассы вдоль застройки, набор с дорогами OSM и ускорение на нём.</a:t>
            </a:r>
          </a:p>
        </p:txBody>
      </p:sp>
      <p:sp>
        <p:nvSpPr>
          <p:cNvPr id="41" name="Текст 8">
            <a:extLst>
              <a:ext uri="{FF2B5EF4-FFF2-40B4-BE49-F238E27FC236}">
                <ns3:creationId id="{1AF2119E-43D8-37AF-C511-A59B0DD883B0}"/>
              </a:ext>
            </a:extLst>
          </p:cNvPr>
          <p:cNvSpPr>
            <a:spLocks noGrp="1"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ns3:creationId id="{819ADE62-86A0-41CF-FEBE-6AC207E6AB95}"/>
              </a:ext>
            </a:extLst>
          </p:cNvPr>
          <p:cNvSpPr>
            <a:spLocks noGrp="1"/>
          </p:cNvSpPr>
          <p:nvPr/>
        </p:nvSpPr>
        <p:spPr>
          <a:xfrm>
            <a:off x="533607" y="342900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 fontScale="100000"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Выбрали задачу, потому что нам было интересно поработать с городской инфраструктурой, картами и алгоритмами. До этого мы не делали проект в таком формате.</a:t>
            </a:r>
          </a:p>
        </p:txBody>
      </p:sp>
      <p:sp>
        <p:nvSpPr>
          <p:cNvPr id="44" name="Текст 8">
            <a:extLst>
              <a:ext uri="{FF2B5EF4-FFF2-40B4-BE49-F238E27FC236}">
                <ns3:creationId id="{A0EBDB05-E223-F4C0-4AF4-743B80D718E1}"/>
              </a:ext>
            </a:extLst>
          </p:cNvPr>
          <p:cNvSpPr>
            <a:spLocks noGrp="1"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sp>
        <p:nvSpPr>
          <p:cNvPr id="5" name="Прямая соединительная линия 4">
            <a:extLst>
              <a:ext uri="{FF2B5EF4-FFF2-40B4-BE49-F238E27FC236}">
                <ns3:creationId id="{AD41F26C-260F-4CD5-A6BC-46E46D36C599}"/>
              </a:ext>
            </a:extLst>
          </p:cNvPr>
          <p:cNvSpPr>
            <a:spLocks noGrp="1"/>
          </p:cNvSpPr>
          <p:nvPr/>
        </p:nv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6" name="Прямая соединительная линия 5">
            <a:extLst>
              <a:ext uri="{FF2B5EF4-FFF2-40B4-BE49-F238E27FC236}">
                <ns3:creationId id="{7D9987D3-2101-4897-A8B2-74F1707EB317}"/>
              </a:ext>
            </a:extLst>
          </p:cNvPr>
          <p:cNvSpPr>
            <a:spLocks noGrp="1"/>
          </p:cNvSpPr>
          <p:nvPr/>
        </p:nv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8" name="Прямая соединительная линия 7">
            <a:extLst>
              <a:ext uri="{FF2B5EF4-FFF2-40B4-BE49-F238E27FC236}">
                <ns3:creationId id="{1B0E421A-8DCE-4F5B-86C7-1BEDED939E9F}"/>
              </a:ext>
            </a:extLst>
          </p:cNvPr>
          <p:cNvSpPr>
            <a:spLocks noGrp="1"/>
          </p:cNvSpPr>
          <p:nvPr/>
        </p:nv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9" name="Текст 8">
            <a:extLst>
              <a:ext uri="{FF2B5EF4-FFF2-40B4-BE49-F238E27FC236}">
                <ns3:creationId id="{DE3DBF43-8386-18C6-2DBB-93FBC617A211}"/>
              </a:ext>
            </a:extLst>
          </p:cNvPr>
          <p:cNvSpPr>
            <a:spLocks noGrp="1"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ns3:creationId id="{1C998835-697E-638C-C9A8-992A3CFE1585}"/>
              </a:ext>
            </a:extLst>
          </p:cNvPr>
          <p:cNvSpPr>
            <a:spLocks noGrp="1"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ns3:creationId id="{63CDAC47-57C1-8743-C534-E78438BFEAB6}"/>
              </a:ext>
            </a:extLst>
          </p:cNvPr>
          <p:cNvSpPr>
            <a:spLocks noGrp="1"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ns4:creationId val="2035511140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rotWithShape="1">
          <a:blip r:embed="Rf1f7585ec6fe478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/>
      </p:grpSpPr>
      <p:sp>
        <p:nvSpPr>
          <p:cNvPr id="10" name="Скругленный прямоугольник 9">
            <a:extLst>
              <a:ext uri="{FF2B5EF4-FFF2-40B4-BE49-F238E27FC236}">
                <ns3:creationId id="{99639827-4B20-41B4-B9A5-E5F859569F5A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ns3:creationId id="{D6D9A41E-4495-E50B-97DA-5E654B99A15A}"/>
              </a:ext>
            </a:extLst>
          </p:cNvPr>
          <p:cNvSpPr>
            <a:spLocks noGrp="1"/>
          </p:cNvSpPr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ns3:creationId id="{4205FFC6-B5B1-7076-639B-E4DAFE652AFA}"/>
              </a:ext>
            </a:extLst>
          </p:cNvPr>
          <p:cNvSpPr>
            <a:spLocks noGrp="1"/>
          </p:cNvSpPr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ns3:creationId id="{889AB292-D098-2ABD-0429-89B4EFAD43B8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52DCC5B9-D646-4B76-891F-6FF4E74E9CB4}" type="slidenum">
              <a:rPr>
                <a:solidFill>
                  <a:schemeClr val="bg1"/>
                </a:solidFill>
              </a:rPr>
              <a:t>11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ns3:creationId id="{B2BA7842-46FE-F786-9D85-92BBE62C549A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sz="1400">
                <a:solidFill>
                  <a:schemeClr val="tx1"/>
                </a:solidFill>
              </a:rPr>
              <a:t>Java 11, Spring Boot 2.6.3, PostgreSQL, docker-compose 1.29.2, Swagger</a:t>
            </a:r>
          </a:p>
          <a:p>
            <a:r>
              <a:rPr sz="1400">
                <a:solidFill>
                  <a:schemeClr val="tx1"/>
                </a:solidFill>
              </a:rPr>
              <a:t>Потоковое чтение GeoJSON, EPSG:32637. Вход 3,22 ГБ проверен на синтетике, не на модели всей Москвы</a:t>
            </a:r>
          </a:p>
          <a:p>
            <a:r>
              <a:rPr sz="1400">
                <a:solidFill>
                  <a:schemeClr val="tx1"/>
                </a:solidFill>
              </a:rPr>
              <a:t>Граф видимости + A*: поворот ≤ 90°, цена ребра — вклад в S; затем выравнивание вдоль осей зданий и дорог</a:t>
            </a:r>
          </a:p>
          <a:p>
            <a:r>
              <a:rPr sz="1400">
                <a:solidFill>
                  <a:schemeClr val="tx1"/>
                </a:solidFill>
              </a:rPr>
              <a:t>Присоединение к существующей сети через камеру или ответвление от уже построенной новой сети; пересчёт расходов и ДУ</a:t>
            </a:r>
          </a:p>
          <a:p>
            <a:r>
              <a:rPr sz="1400">
                <a:solidFill>
                  <a:schemeClr val="tx1"/>
                </a:solidFill>
              </a:rPr>
              <a:t>Ограничения таблицы 2, спецпроходы с Кспец; ввод в здание и ±2 м — по доп. разъяснениям 29.09</a:t>
            </a:r>
          </a:p>
          <a:p>
            <a:r>
              <a:rPr sz="1400">
                <a:solidFill>
                  <a:schemeClr val="tx1"/>
                </a:solidFill>
              </a:rPr>
              <a:t>Проверки: 46 тестов Java, 30 Python, 15 сценариев, 7 тестов карты. API, PostgreSQL и перезапуск проверены в Docker</a:t>
            </a:r>
          </a:p>
        </p:txBody>
      </p:sp>
      <p:sp>
        <p:nvSpPr>
          <p:cNvPr id="7" name="Текст 6">
            <a:extLst>
              <a:ext uri="{FF2B5EF4-FFF2-40B4-BE49-F238E27FC236}">
                <ns3:creationId id="{FADF42A3-53F4-C8E0-2D79-332DAAEB9A8A}"/>
              </a:ext>
            </a:extLst>
          </p:cNvPr>
          <p:cNvSpPr>
            <a:spLocks noGrp="1"/>
          </p:cNvSpPr>
          <p:nvPr>
            <p:ph type="body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sz="1400">
                <a:solidFill>
                  <a:schemeClr val="tx1"/>
                </a:solidFill>
              </a:rPr>
              <a:t>Заменяет ручной перебор мест врезки и трасс автоматическим расчётом</a:t>
            </a:r>
          </a:p>
          <a:p>
            <a:r>
              <a:rPr sz="1400">
                <a:solidFill>
                  <a:schemeClr val="tx1"/>
                </a:solidFill>
              </a:rPr>
              <a:t>Сравнение вариантов по стоимости и длине — прозрачное обоснование решения</a:t>
            </a:r>
          </a:p>
          <a:p>
            <a:r>
              <a:rPr sz="1400">
                <a:solidFill>
                  <a:schemeClr val="tx1"/>
                </a:solidFill>
              </a:rPr>
              <a:t>Реализовано по техприложению ред. 18.09; реконструкция существующей сети в актуальной модели не выполняется (§2.4, разъяснения по вопросам участников, №14)</a:t>
            </a:r>
          </a:p>
        </p:txBody>
      </p:sp>
      <p:sp>
        <p:nvSpPr>
          <p:cNvPr id="14" name="Заголовок 13">
            <a:extLst>
              <a:ext uri="{FF2B5EF4-FFF2-40B4-BE49-F238E27FC236}">
                <ns3:creationId id="{9ADE5A7A-262A-121D-63C7-92347C3B48D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ns3:creationId id="{26BEC078-5087-6080-D7D6-F5A0B438BDE2}"/>
              </a:ext>
            </a:extLst>
          </p:cNvPr>
          <p:cNvSpPr>
            <a:spLocks noGrp="1"/>
          </p:cNvSpPr>
          <p:nvPr>
            <p:ph type="body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ns3:creationId id="{2859F02A-65ED-43C1-C072-8FCD6772DA35}"/>
              </a:ext>
            </a:extLst>
          </p:cNvPr>
          <p:cNvSpPr>
            <a:spLocks noGrp="1"/>
          </p:cNvSpPr>
          <p:nvPr>
            <p:ph type="body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ns4:creationId val="3998776457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rotWithShape="1">
          <a:blip r:embed="Rf93cd39905884e2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/>
      </p:grpSpPr>
      <p:sp>
        <p:nvSpPr>
          <p:cNvPr id="10" name="Скругленный прямоугольник 9">
            <a:extLst>
              <a:ext uri="{FF2B5EF4-FFF2-40B4-BE49-F238E27FC236}">
                <ns3:creationId id="{99639827-4B20-41B4-B9A5-E5F859569F5A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ns3:creationId id="{8EE648F1-70BD-354A-6DAE-07E6E3044DC8}"/>
              </a:ext>
            </a:extLst>
          </p:cNvPr>
          <p:cNvSpPr>
            <a:spLocks noGrp="1"/>
          </p:cNvSpPr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ns3:creationId id="{D6D9A41E-4495-E50B-97DA-5E654B99A15A}"/>
              </a:ext>
            </a:extLst>
          </p:cNvPr>
          <p:cNvSpPr>
            <a:spLocks noGrp="1"/>
          </p:cNvSpPr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ns3:creationId id="{9B320FD4-0F75-8FB9-F799-AFA2CA575375}"/>
              </a:ext>
            </a:extLst>
          </p:cNvPr>
          <p:cNvSpPr>
            <a:spLocks noGrp="1"/>
          </p:cNvSpPr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ns3:creationId id="{4205FFC6-B5B1-7076-639B-E4DAFE652AFA}"/>
              </a:ext>
            </a:extLst>
          </p:cNvPr>
          <p:cNvSpPr>
            <a:spLocks noGrp="1"/>
          </p:cNvSpPr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ns3:creationId id="{889AB292-D098-2ABD-0429-89B4EFAD43B8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52DCC5B9-D646-4B76-891F-6FF4E74E9CB4}" type="slidenum">
              <a:rPr>
                <a:solidFill>
                  <a:schemeClr val="bg1"/>
                </a:solidFill>
              </a:rPr>
              <a:t>16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ns3:creationId id="{0B115FEC-D79C-233C-419E-0B0BE3EB4A02}"/>
              </a:ext>
            </a:extLst>
          </p:cNvPr>
          <p:cNvSpPr>
            <a:spLocks noGrp="1"/>
          </p:cNvSpPr>
          <p:nvPr>
            <p:ph type="body" idx="37"/>
          </p:nvPr>
        </p:nvSpPr>
        <p:spPr>
          <a:xfrm>
            <a:off x="520913" y="2331720"/>
            <a:ext cx="2284071" cy="822960"/>
          </a:xfrm>
        </p:spPr>
        <p:txBody>
          <a:bodyPr/>
          <a:lstStyle/>
          <a:p>
            <a:r>
              <a:rPr sz="3000" b="1">
                <a:solidFill>
                  <a:srgbClr val="F92571"/>
                </a:solidFill>
              </a:rPr>
              <a:t>17 из 17</a:t>
            </a:r>
          </a:p>
        </p:txBody>
      </p:sp>
      <p:sp>
        <p:nvSpPr>
          <p:cNvPr id="3" name="Текст 2">
            <a:extLst>
              <a:ext uri="{FF2B5EF4-FFF2-40B4-BE49-F238E27FC236}">
                <ns3:creationId id="{B2BA7842-46FE-F786-9D85-92BBE62C549A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520913" y="3291840"/>
            <a:ext cx="2284071" cy="2651760"/>
          </a:xfrm>
        </p:spPr>
        <p:txBody>
          <a:bodyPr/>
          <a:lstStyle/>
          <a:p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Каждая цель имеет путь до существующей сети. Ввод в здание соответствует разъяснениям 29.09, пункт 15.</a:t>
            </a:r>
          </a:p>
        </p:txBody>
      </p:sp>
      <p:sp>
        <p:nvSpPr>
          <p:cNvPr id="4" name="Текст 3">
            <a:extLst>
              <a:ext uri="{FF2B5EF4-FFF2-40B4-BE49-F238E27FC236}">
                <ns3:creationId id="{D2670742-0112-ABA9-7C47-FE6D64A30A91}"/>
              </a:ext>
            </a:extLst>
          </p:cNvPr>
          <p:cNvSpPr>
            <a:spLocks noGrp="1"/>
          </p:cNvSpPr>
          <p:nvPr>
            <p:ph type="body" idx="39"/>
          </p:nvPr>
        </p:nvSpPr>
        <p:spPr>
          <a:xfrm>
            <a:off x="3457903" y="2331720"/>
            <a:ext cx="2337416" cy="822960"/>
          </a:xfrm>
        </p:spPr>
        <p:txBody>
          <a:bodyPr/>
          <a:lstStyle/>
          <a:p>
            <a:r>
              <a:rPr sz="3000" b="1">
                <a:solidFill>
                  <a:srgbClr val="F92571"/>
                </a:solidFill>
              </a:rPr>
              <a:t>1,85 км</a:t>
            </a:r>
          </a:p>
        </p:txBody>
      </p:sp>
      <p:sp>
        <p:nvSpPr>
          <p:cNvPr id="5" name="Текст 4">
            <a:extLst>
              <a:ext uri="{FF2B5EF4-FFF2-40B4-BE49-F238E27FC236}">
                <ns3:creationId id="{6A5C658C-1FD4-CD12-D517-15F6F46CFE3C}"/>
              </a:ext>
            </a:extLst>
          </p:cNvPr>
          <p:cNvSpPr>
            <a:spLocks noGrp="1"/>
          </p:cNvSpPr>
          <p:nvPr>
            <p:ph type="body" idx="40"/>
          </p:nvPr>
        </p:nvSpPr>
        <p:spPr>
          <a:xfrm>
            <a:off x="3457903" y="3291840"/>
            <a:ext cx="2337416" cy="2651760"/>
          </a:xfrm>
        </p:spPr>
        <p:txBody>
          <a:bodyPr/>
          <a:lstStyle/>
          <a:p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Общая длина новых тепловых пар V1. Несколько зданий используют общие магистрали.</a:t>
            </a:r>
          </a:p>
        </p:txBody>
      </p:sp>
      <p:sp>
        <p:nvSpPr>
          <p:cNvPr id="6" name="Текст 5">
            <a:extLst>
              <a:ext uri="{FF2B5EF4-FFF2-40B4-BE49-F238E27FC236}">
                <ns3:creationId id="{4FAFE374-953E-0336-76DE-D143BB9C6451}"/>
              </a:ext>
            </a:extLst>
          </p:cNvPr>
          <p:cNvSpPr>
            <a:spLocks noGrp="1"/>
          </p:cNvSpPr>
          <p:nvPr>
            <p:ph type="body" idx="41"/>
          </p:nvPr>
        </p:nvSpPr>
        <p:spPr>
          <a:xfrm>
            <a:off x="6456363" y="2331720"/>
            <a:ext cx="2268537" cy="822960"/>
          </a:xfrm>
        </p:spPr>
        <p:txBody>
          <a:bodyPr/>
          <a:lstStyle/>
          <a:p>
            <a:r>
              <a:rPr sz="3000" b="1">
                <a:solidFill>
                  <a:srgbClr val="F92571"/>
                </a:solidFill>
              </a:rPr>
              <a:t>273,6</a:t>
            </a:r>
          </a:p>
        </p:txBody>
      </p:sp>
      <p:sp>
        <p:nvSpPr>
          <p:cNvPr id="7" name="Текст 6">
            <a:extLst>
              <a:ext uri="{FF2B5EF4-FFF2-40B4-BE49-F238E27FC236}">
                <ns3:creationId id="{FADF42A3-53F4-C8E0-2D79-332DAAEB9A8A}"/>
              </a:ext>
            </a:extLst>
          </p:cNvPr>
          <p:cNvSpPr>
            <a:spLocks noGrp="1"/>
          </p:cNvSpPr>
          <p:nvPr>
            <p:ph type="body" idx="42"/>
          </p:nvPr>
        </p:nvSpPr>
        <p:spPr>
          <a:xfrm>
            <a:off x="6456363" y="3291840"/>
            <a:ext cx="2268537" cy="2651760"/>
          </a:xfrm>
        </p:spPr>
        <p:txBody>
          <a:bodyPr/>
          <a:lstStyle/>
          <a:p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млн ₽. Строительство V1 по модели задания. Учтены участки и 14 новых камер, штрафов нет.</a:t>
            </a:r>
          </a:p>
        </p:txBody>
      </p:sp>
      <p:sp>
        <p:nvSpPr>
          <p:cNvPr id="8" name="Текст 7">
            <a:extLst>
              <a:ext uri="{FF2B5EF4-FFF2-40B4-BE49-F238E27FC236}">
                <ns3:creationId id="{68E32729-5FCC-21EA-16FD-CEF0C8FAABAA}"/>
              </a:ext>
            </a:extLst>
          </p:cNvPr>
          <p:cNvSpPr>
            <a:spLocks noGrp="1"/>
          </p:cNvSpPr>
          <p:nvPr>
            <p:ph type="body" idx="43"/>
          </p:nvPr>
        </p:nvSpPr>
        <p:spPr>
          <a:xfrm>
            <a:off x="9407534" y="2331720"/>
            <a:ext cx="2263553" cy="822960"/>
          </a:xfrm>
        </p:spPr>
        <p:txBody>
          <a:bodyPr/>
          <a:lstStyle/>
          <a:p>
            <a:r>
              <a:rPr sz="3000" b="1">
                <a:solidFill>
                  <a:srgbClr val="F92571"/>
                </a:solidFill>
              </a:rPr>
              <a:t>2 варианта</a:t>
            </a:r>
          </a:p>
        </p:txBody>
      </p:sp>
      <p:sp>
        <p:nvSpPr>
          <p:cNvPr id="9" name="Текст 8">
            <a:extLst>
              <a:ext uri="{FF2B5EF4-FFF2-40B4-BE49-F238E27FC236}">
                <ns3:creationId id="{86A6BF68-6470-CE0D-3E5F-0B15EDDCA14B}"/>
              </a:ext>
            </a:extLst>
          </p:cNvPr>
          <p:cNvSpPr>
            <a:spLocks noGrp="1"/>
          </p:cNvSpPr>
          <p:nvPr>
            <p:ph type="body" idx="44"/>
          </p:nvPr>
        </p:nvSpPr>
        <p:spPr>
          <a:xfrm>
            <a:off x="9407534" y="3291840"/>
            <a:ext cx="2263553" cy="2651760"/>
          </a:xfrm>
        </p:spPr>
        <p:txBody>
          <a:bodyPr/>
          <a:lstStyle/>
          <a:p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Разные места присоединения и общие ветки. Лучший найденный вариант: S = 13,197.</a:t>
            </a:r>
          </a:p>
        </p:txBody>
      </p:sp>
      <p:sp>
        <p:nvSpPr>
          <p:cNvPr id="14" name="Заголовок 13">
            <a:extLst>
              <a:ext uri="{FF2B5EF4-FFF2-40B4-BE49-F238E27FC236}">
                <ns3:creationId id="{9ADE5A7A-262A-121D-63C7-92347C3B48D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РЕЗУЛЬТАТЫ</a:t>
            </a:r>
          </a:p>
        </p:txBody>
      </p:sp>
      <p:sp>
        <p:nvSpPr>
          <p:cNvPr id="15" name="Текст 14">
            <a:extLst>
              <a:ext uri="{FF2B5EF4-FFF2-40B4-BE49-F238E27FC236}">
                <ns3:creationId id="{26BEC078-5087-6080-D7D6-F5A0B438BDE2}"/>
              </a:ext>
            </a:extLst>
          </p:cNvPr>
          <p:cNvSpPr>
            <a:spLocks noGrp="1"/>
          </p:cNvSpPr>
          <p:nvPr>
            <p:ph type="body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ns3:creationId id="{DE8FDF14-E7C8-6EE3-EBD8-B5DDE4F7F60B}"/>
              </a:ext>
            </a:extLst>
          </p:cNvPr>
          <p:cNvSpPr>
            <a:spLocks noGrp="1"/>
          </p:cNvSpPr>
          <p:nvPr>
            <p:ph type="body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ns3:creationId id="{2859F02A-65ED-43C1-C072-8FCD6772DA35}"/>
              </a:ext>
            </a:extLst>
          </p:cNvPr>
          <p:cNvSpPr>
            <a:spLocks noGrp="1"/>
          </p:cNvSpPr>
          <p:nvPr>
            <p:ph type="body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ns3:creationId id="{59F6129C-95BA-0836-7395-00F4830237D5}"/>
              </a:ext>
            </a:extLst>
          </p:cNvPr>
          <p:cNvSpPr>
            <a:spLocks noGrp="1"/>
          </p:cNvSpPr>
          <p:nvPr>
            <p:ph type="body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ns4:creationId val="1739114224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rotWithShape="1">
          <a:blip r:embed="Ra84aa22fd3c6474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/>
      </p:grpSpPr>
      <p:sp>
        <p:nvSpPr>
          <p:cNvPr id="4" name="Скругленный прямоугольник 3">
            <a:extLst>
              <a:ext uri="{FF2B5EF4-FFF2-40B4-BE49-F238E27FC236}">
                <ns3:creationId id="{6080F467-69D9-0742-2978-0590E2BF440F}"/>
              </a:ext>
            </a:extLst>
          </p:cNvPr>
          <p:cNvSpPr>
            <a:spLocks noGrp="1"/>
          </p:cNvSpPr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ns3:creationId id="{D48EA9B5-E41A-C397-3CFE-F967E98FC767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52DCC5B9-D646-4B76-891F-6FF4E74E9CB4}" type="slidenum">
              <a:rPr>
                <a:solidFill>
                  <a:schemeClr val="bg1"/>
                </a:solidFill>
              </a:rPr>
              <a:t>13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ns3:creationId id="{D1F975DC-7FFC-8C16-7A6D-78D26FCBD5B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3600">
                <a:solidFill>
                  <a:schemeClr val="bg1"/>
                </a:solidFill>
              </a:rPr>
              <a:t>СЕТЬ ВАРИАНТА V1</a:t>
            </a:r>
          </a:p>
        </p:txBody>
      </p:sp>
      <p:pic>
        <p:nvPicPr>
          <p:cNvPr id="28" name="Picture 21"/>
          <p:cNvPicPr>
            <a:picLocks noChangeAspect="1"/>
          </p:cNvPicPr>
          <p:nvPr/>
        </p:nvPicPr>
        <p:blipFill>
          <a:blip r:embed="R7832122e37914393"/>
          <a:stretch>
            <a:fillRect l="0" t="0" r="0" b="0"/>
          </a:stretch>
        </p:blipFill>
        <p:spPr>
          <a:xfrm>
            <a:off x="548640" y="1508760"/>
            <a:ext cx="6359236" cy="466344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ns3:creationId id="{FE8A487B-508C-44B4-8D45-FBCBB9C636E1}"/>
              </a:ext>
            </a:extLst>
          </p:cNvPr>
          <p:cNvSpPr>
            <a:spLocks noGrp="1"/>
          </p:cNvSpPr>
          <p:nvPr/>
        </p:nvSpPr>
        <p:spPr>
          <a:xfrm>
            <a:off x="7086600" y="1600200"/>
            <a:ext cx="4572000" cy="204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Основной режим: 17 из 17 целей, штрафов нет.</a:t>
            </a:r>
          </a:p>
          <a:p>
            <a:pPr>
              <a:spcAft>
                <a:spcPts val="600"/>
              </a:spcAft>
              <a:buNone/>
            </a:pPr>
            <a:r>
              <a:rPr sz="14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4 присоединения к существующей сети, 10 камер разветвления.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1 846 м · 273,6 млн ₽ · S = 13,20.</a:t>
            </a:r>
          </a:p>
          <a:p>
            <a:pPr>
              <a:spcAft>
                <a:spcPts val="600"/>
              </a:spcAft>
              <a:buNone/>
            </a:pPr>
            <a:r>
              <a:rPr sz="14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Точки 2 и 10: ближайший выход закрыт отступом до другого крыла здания. Выбран другой короткий прямой ввод через внешний контур.</a:t>
            </a:r>
          </a:p>
          <a:p>
            <a:pPr>
              <a:spcAft>
                <a:spcPts val="600"/>
              </a:spcAft>
              <a:buNone/>
            </a:pPr>
            <a:r>
              <a:rPr sz="14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Точка 5: ближайшая внешняя граница, вход через двор не используется.</a:t>
            </a:r>
          </a:p>
          <a:p>
            <a:pPr>
              <a:spcAft>
                <a:spcPts val="600"/>
              </a:spcAft>
              <a:buNone/>
            </a:pPr>
            <a:r>
              <a:rPr sz="14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Новая сеть — розовым, существующая — тёмным; ■ — камера разветвления, ◇ — новая камера присоединения.</a:t>
            </a:r>
          </a:p>
        </p:txBody>
      </p:sp>
    </p:spTree>
    <p:extLst>
      <p:ext uri="{BB962C8B-B14F-4D97-AF65-F5344CB8AC3E}">
        <ns4:creationId val="232040327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5fb40ad164247a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17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Совместная сеть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5212080"/>
            <a:ext cx="2965633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4 присоединения · 17/17 · 1 846 м · 273,6 млн ₽ · S 13,20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Одно присоединение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5212080"/>
            <a:ext cx="3034896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спецпроход ±2 м через существующую сеть · 17/17 · 2 078 м · 289,7 млн ₽ · S 14,35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Набор + дороги OSM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5212080"/>
            <a:ext cx="2945464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другой вход: коридоры вдоль улиц · 17/17 · 2 041 м · 292,9 млн ₽ · S 14,33 (с V1 не сравнивается)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chemeClr val="accent5"/>
                </a:solidFill>
              </a:rPr>
              <a:t>СРАВНЕНИЕ ВАРИАНТОВ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400" b="1">
                <a:solidFill>
                  <a:schemeClr val="accent5"/>
                </a:solidFill>
              </a:rPr>
              <a:t>V1</a:t>
            </a: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400" b="1">
                <a:solidFill>
                  <a:schemeClr val="accent5"/>
                </a:solidFill>
              </a:rPr>
              <a:t>V2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400" b="1">
                <a:solidFill>
                  <a:schemeClr val="accent5"/>
                </a:solidFill>
              </a:rPr>
              <a:t>OSM</a:t>
            </a:r>
          </a:p>
        </p:txBody>
      </p:sp>
      <p:pic>
        <p:nvPicPr>
          <p:cNvPr id="39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76783d1e648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811" y="3017520"/>
            <a:ext cx="2926080" cy="2148840"/>
          </a:xfrm>
          <a:prstGeom xmlns:a="http://schemas.openxmlformats.org/drawingml/2006/main" prst="rect">
            <a:avLst/>
          </a:prstGeom>
        </p:spPr>
      </p:pic>
      <p:pic>
        <p:nvPicPr>
          <p:cNvPr id="40" name="Picture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9f742918e4e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54296" y="3017520"/>
            <a:ext cx="2926080" cy="2148840"/>
          </a:xfrm>
          <a:prstGeom xmlns:a="http://schemas.openxmlformats.org/drawingml/2006/main" prst="rect">
            <a:avLst/>
          </a:prstGeom>
        </p:spPr>
      </p:pic>
      <p:pic>
        <p:nvPicPr>
          <p:cNvPr id="41" name="Picture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3ef51ca9b41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26780" y="3017520"/>
            <a:ext cx="2926080" cy="21488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rotWithShape="1">
          <a:blip r:embed="Rddeed6d70469427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Скругленный прямоугольник 1">
            <a:extLst>
              <a:ext uri="{FF2B5EF4-FFF2-40B4-BE49-F238E27FC236}">
                <ns3:creationId id="{E0C4469B-8AAE-7B13-015A-FD424E4F9A97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5852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ns3:creationId id="{294820D9-0FE7-A2CD-6EC6-B191A0CD90DC}"/>
              </a:ext>
            </a:extLst>
          </p:cNvPr>
          <p:cNvSpPr>
            <a:spLocks noGrp="1"/>
          </p:cNvSpPr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ns3:creationId id="{7AE51F4F-C2FB-09FC-6139-35E790E33BDF}"/>
              </a:ext>
            </a:extLst>
          </p:cNvPr>
          <p:cNvSpPr>
            <a:spLocks noGrp="1"/>
          </p:cNvSpPr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ns3:creationId id="{34B52819-C376-FDAF-2B5B-09C492119CCF}"/>
              </a:ext>
            </a:extLst>
          </p:cNvPr>
          <p:cNvSpPr>
            <a:spLocks noGrp="1"/>
          </p:cNvSpPr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ns3:creationId id="{6CDADF58-3FDE-0896-F558-2E50261FFD44}"/>
              </a:ext>
            </a:extLst>
          </p:cNvPr>
          <p:cNvSpPr>
            <a:spLocks noGrp="1"/>
          </p:cNvSpPr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ns3:creationId id="{CD942BE0-7170-CE73-83AB-4505964EB89D}"/>
              </a:ext>
            </a:extLst>
          </p:cNvPr>
          <p:cNvSpPr>
            <a:spLocks noGrp="1"/>
          </p:cNvSpPr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ns3:creationId id="{BF0860DA-9B9B-19E2-49DF-A8EDAA7C2B5F}"/>
              </a:ext>
            </a:extLst>
          </p:cNvPr>
          <p:cNvSpPr>
            <a:spLocks noGrp="1"/>
          </p:cNvSpPr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/>
          <a:fillRef idx="0"/>
          <a:effectRef idx="0"/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ns3:creationId id="{3C3F7DC2-0D9C-407C-98AC-5F3AD231C5C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3887" y="1732103"/>
            <a:ext cx="4734175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buNone/>
            </a:pPr>
            <a:r>
              <a:rPr sz="1400" b="1">
                <a:solidFill>
                  <a:schemeClr val="tx1"/>
                </a:solidFill>
              </a:rPr>
              <a:t>S = 0,7 · C / 25 млн ₽ + 0,3 · L / 100 м</a:t>
            </a:r>
          </a:p>
          <a:p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Техприложение §6; меньше — лучше</a:t>
            </a:r>
          </a:p>
          <a:p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v1: 7,66 + 5,54 = 13,20</a:t>
            </a:r>
          </a:p>
          <a:p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v2: 8,11 + 6,23 ≈ 14,35</a:t>
            </a:r>
          </a:p>
          <a:p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Четыре присоединения выгоднее одного: v2 длиннее на 233 м и дороже на 16,1 млн ₽</a:t>
            </a:r>
          </a:p>
          <a:p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Предельная длина (§2.3) соблюдена на всех путях — валидатор: 0 нарушений</a:t>
            </a:r>
          </a:p>
          <a:p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Поворот ≤ 90° — в каждой вершине трассы и в каждой камере разветвления</a:t>
            </a:r>
          </a:p>
        </p:txBody>
      </p:sp>
      <p:sp>
        <p:nvSpPr>
          <p:cNvPr id="5" name="Текст 4">
            <a:extLst>
              <a:ext uri="{FF2B5EF4-FFF2-40B4-BE49-F238E27FC236}">
                <ns3:creationId id="{8A2E8600-6DC7-42A4-BAB0-32ECA492CE0A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Ограничения набора: ОКС (85), вода (2), ж/д (1) — обход с отступом по таблице 2 (у ОКС 5 м + ½ ширины пары труб)</a:t>
            </a:r>
          </a:p>
        </p:txBody>
      </p:sp>
      <p:sp>
        <p:nvSpPr>
          <p:cNvPr id="6" name="Текст 5">
            <a:extLst>
              <a:ext uri="{FF2B5EF4-FFF2-40B4-BE49-F238E27FC236}">
                <ns3:creationId id="{F517FCEF-DEC9-4794-B46E-21961558A7C8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Спецпроход: v2 пересекает существующую сеть 128 ровно на ±2 м (Кспец 1,05, доп. разъяснения 29.09, №14). Дорога, трамвай, газ, кабель — 15 сценариев и набор с дорогами OSM</a:t>
            </a:r>
          </a:p>
        </p:txBody>
      </p:sp>
      <p:sp>
        <p:nvSpPr>
          <p:cNvPr id="7" name="Текст 6">
            <a:extLst>
              <a:ext uri="{FF2B5EF4-FFF2-40B4-BE49-F238E27FC236}">
                <ns3:creationId id="{236B8339-2490-447D-B543-1CC15487D82C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Нет маршрута → частичный результат, id в unconnected_oks_ids, штраф и причина; точки с битыми данными тоже не теряются</a:t>
            </a:r>
          </a:p>
        </p:txBody>
      </p:sp>
      <p:sp>
        <p:nvSpPr>
          <p:cNvPr id="8" name="Текст 7">
            <a:extLst>
              <a:ext uri="{FF2B5EF4-FFF2-40B4-BE49-F238E27FC236}">
                <ns3:creationId id="{240FC05B-8F07-40FA-BE0D-2235F9DDDAB2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Текущая нагрузка существующей сети во входе не задана. Её реальный резерв, давления и реконструкцию не рассчитываем (§2.4).</a:t>
            </a:r>
          </a:p>
        </p:txBody>
      </p:sp>
      <p:sp>
        <p:nvSpPr>
          <p:cNvPr id="9" name="Текст 8">
            <a:extLst>
              <a:ext uri="{FF2B5EF4-FFF2-40B4-BE49-F238E27FC236}">
                <ns3:creationId id="{D049C016-4655-4C58-B392-FD255E0A768B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Границы: 2D (глубина необязательна), эвристика без гарантии оптимума; диагональ остаётся, где «Г» упирается в здание; трактовки раскрыты в выгрузке и интерфейсе</a:t>
            </a:r>
          </a:p>
        </p:txBody>
      </p:sp>
      <p:sp>
        <p:nvSpPr>
          <p:cNvPr id="10" name="Номер слайда 9">
            <a:extLst>
              <a:ext uri="{FF2B5EF4-FFF2-40B4-BE49-F238E27FC236}">
                <ns3:creationId id="{366E9534-A66A-4DF6-B8DA-1E6D8E4438FA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>
                <a:solidFill>
                  <a:schemeClr val="accent5"/>
                </a:solidFill>
              </a:rPr>
              <a:t>20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ns3:creationId id="{B16985B0-3ABD-CE1B-A2A5-B042F5A019B5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РАНЖИРОВАНИЕ И ОГРАНИЧЕНИЯ</a:t>
            </a:r>
          </a:p>
        </p:txBody>
      </p:sp>
    </p:spTree>
    <p:extLst>
      <p:ext uri="{BB962C8B-B14F-4D97-AF65-F5344CB8AC3E}">
        <ns4:creationId val="106989518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10457d68474433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25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1. Чтение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GeoJSON потоком в два прохода, EPSG:32637, окна поиска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3. Трасса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A* по графу видимости: поворот ≤ 90°, цена — вклад в S; выравнивание вдоль застройки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5. Результат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Два варианта, ранжирование по S, GeoJSON по §7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2. Препятствия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Отступ + ½ габарита по таблице 2, зоны спецпроходов</a:t>
            </a: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4. Общая сеть</a:t>
            </a: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Присоединение к существующей сети или ответвление от новой в камере, пересчёт ДУ</a:t>
            </a: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3643104B-45C4-4295-ABF0-274C2E88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DAF70FA3-CDB3-43BB-AFC9-38BD55C7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3EE1022F-24DC-420E-9616-4EA160BA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D93409C4-7718-49BE-956C-E739E1B4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AD59C5F6-3F33-4DB5-9A15-4DDA4B75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FA3638BA-3B9A-44D9-AF3F-19A5C36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0ACC4CC2-2C0D-4EB1-B693-A867E679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6B555288-1058-4644-9E8F-9A2099F3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A5E4EEB6-576A-42B5-A4B5-0D247E9B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АЛГОРИТМ</a:t>
            </a:r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blipFill rotWithShape="1">
          <a:blip r:embed="Rea30c011966c4e5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/>
      </p:grpSpPr>
      <p:sp>
        <p:nvSpPr>
          <p:cNvPr id="3" name="Скругленный прямоугольник 2">
            <a:extLst>
              <a:ext uri="{FF2B5EF4-FFF2-40B4-BE49-F238E27FC236}">
                <ns3:creationId id="{64C56CA4-DEF9-5625-89CB-6C07486C2532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3" name="Рисунок 11"/>
          <p:cNvPicPr>
            <a:picLocks noChangeAspect="1"/>
          </p:cNvPicPr>
          <p:nvPr/>
        </p:nvPicPr>
        <p:blipFill>
          <a:blip r:embed="R9a7791d32b6a4555"/>
          <a:stretch>
            <a:fillRect l="0" t="0" r="0" b="0"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14" name="Рисунок 1"/>
          <p:cNvPicPr>
            <a:picLocks noChangeAspect="1"/>
          </p:cNvPicPr>
          <p:nvPr>
            <p:ph type="pic" idx="14"/>
          </p:nvPr>
        </p:nvPicPr>
        <p:blipFill>
          <a:blip r:embed="Rb8027ab5ea9847cf"/>
          <a:srcRect l="117" t="0" r="117" b="0"/>
          <a:stretch>
            <a:fillRect l="0" t="0" r="0" b="0"/>
          </a:stretch>
        </p:blipFill>
        <p:spPr>
          <a:xfrm>
            <a:off x="4070350" y="1196340"/>
            <a:ext cx="3966210" cy="2971800"/>
          </a:xfrm>
        </p:spPr>
      </p:pic>
      <p:sp>
        <p:nvSpPr>
          <p:cNvPr id="7" name="Номер слайда 6">
            <a:extLst>
              <a:ext uri="{FF2B5EF4-FFF2-40B4-BE49-F238E27FC236}">
                <ns3:creationId id="{752D5942-B353-44B0-BA5B-56640646D1D1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52DCC5B9-D646-4B76-891F-6FF4E74E9CB4}" type="slidenum">
              <a:rPr>
                <a:solidFill>
                  <a:schemeClr val="accent5"/>
                </a:solidFill>
              </a:rPr>
              <a:t>26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ns3:creationId id="{DC247253-002A-413B-B1BF-2661F6820C79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Загрузка и расчёт</a:t>
            </a:r>
          </a:p>
          <a:p>
            <a:pPr marL="0" indent="0">
              <a:buNone/>
            </a:pPr>
            <a:r>
              <a:rPr>
                <a:solidFill>
                  <a:schemeClr val="tx1"/>
                </a:solidFill>
              </a:rPr>
              <a:t>GeoJSON, очередь заданий и статус. Результат можно скачать. Объёмный ввод проверен на синтетике. Масштаб всей Москвы ещё не проверен.</a:t>
            </a:r>
          </a:p>
        </p:txBody>
      </p:sp>
      <p:sp>
        <p:nvSpPr>
          <p:cNvPr id="5" name="Текст 4">
            <a:extLst>
              <a:ext uri="{FF2B5EF4-FFF2-40B4-BE49-F238E27FC236}">
                <ns3:creationId id="{E1719752-EED6-4EE5-BE5A-FB401278B984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Карта результата</a:t>
            </a:r>
          </a:p>
          <a:p>
            <a:pPr marL="0" indent="0">
              <a:buNone/>
            </a:pPr>
            <a:r>
              <a:rPr>
                <a:solidFill>
                  <a:schemeClr val="tx1"/>
                </a:solidFill>
              </a:rPr>
              <a:t>Варианты, камеры, спецпроходы, предельная длина и блок «Трактовки и отступления»</a:t>
            </a:r>
          </a:p>
        </p:txBody>
      </p:sp>
      <p:sp>
        <p:nvSpPr>
          <p:cNvPr id="6" name="Текст 5">
            <a:extLst>
              <a:ext uri="{FF2B5EF4-FFF2-40B4-BE49-F238E27FC236}">
                <ns3:creationId id="{A616E677-DB7C-4B76-AAC0-44E0CBDD2CA4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Развёртывание</a:t>
            </a:r>
          </a:p>
          <a:p>
            <a:pPr marL="0" indent="0">
              <a:buNone/>
            </a:pPr>
            <a:r>
              <a:rPr>
                <a:solidFill>
                  <a:schemeClr val="tx1"/>
                </a:solidFill>
              </a:rPr>
              <a:t>docker-compose 1.29.2: приложение и PostgreSQL 16, Java 11</a:t>
            </a:r>
          </a:p>
        </p:txBody>
      </p:sp>
      <p:sp>
        <p:nvSpPr>
          <p:cNvPr id="9" name="Заголовок 13">
            <a:extLst>
              <a:ext uri="{FF2B5EF4-FFF2-40B4-BE49-F238E27FC236}">
                <ns3:creationId id="{3F4D2037-46B3-D253-D9E2-75E4F6E77AE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СЕРВИС</a:t>
            </a:r>
          </a:p>
        </p:txBody>
      </p:sp>
    </p:spTree>
    <p:extLst>
      <p:ext uri="{BB962C8B-B14F-4D97-AF65-F5344CB8AC3E}">
        <ns4:creationId val="109998945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1a1a81f69e3411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Режим с глубиной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Отдельный расчёт с вертикальными правилами пересечений и коэффициентом глубины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Масштаб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Следующий этап: инкрементальный пересчёт препятствий и параллельный перебор вариантов — для тысяч целей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Внедрение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Интеграция с ГИС города; при появлении в данных текущих расходов — проверка пропускной способности существующей сети</a:t>
            </a:r>
          </a:p>
        </p:txBody>
      </p:sp>
      <p:cxnSp>
        <p:nvCxnSpPr>
          <p:cNvPr id="119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РАЗВИТИЕ</a:t>
            </a:r>
          </a:p>
        </p:txBody>
      </p:sp>
      <p:cxnSp>
        <p:nvCxnSpPr>
          <p:cNvPr id="156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Команда Elades</dc:creator>
  <lastModifiedBy>Команда Elades</lastModifiedBy>
  <dc:title>Elades — ЛЦТ 2026, задача 2 — питч</dc:title>
  <dcterms:created xsi:type="dcterms:W3CDTF">2026-09-29T13:24:17.8320000Z</dcterms:created>
  <dcterms:modified xsi:type="dcterms:W3CDTF">2026-09-29T13:24:17.8320000Z</dcterms:modified>
</coreProperties>
</file>